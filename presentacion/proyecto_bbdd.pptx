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Masters/slideMaster1.xml" ContentType="application/vnd.openxmlformats-officedocument.presentationml.slide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Layouts/slideLayout1.xml" ContentType="application/vnd.openxmlformats-officedocument.presentationml.slideLayout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</p:sldIdLst>
  <p:sldSz cx="9144000" cy="5143500"/>
  <p:notesSz cx="51435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Pulse para desplazar la diapositiva</a:t>
            </a:r>
            <a:endParaRPr lang="es-E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las notas</a:t>
            </a:r>
            <a:endParaRPr lang="es-E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95DF098D-01A8-476C-86C1-17CBEAEFBA91}" type="slidenum"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3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B3CF1EB8-D070-4A7D-BCA6-C9BB85FB33B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3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3304B765-2A15-4FD4-932A-FF27DF7FC9F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3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B85FEDF6-26BB-4E8C-B0E0-2281696610A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tabLst>
                <a:tab pos="0" algn="l"/>
              </a:tabLst>
              <a:def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  <a:tabLst>
                <a:tab pos="0" algn="l"/>
              </a:tabLst>
            </a:pP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Pulse para editar el formato del texto de título</a:t>
            </a:r>
            <a:endParaRPr lang="es-E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E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s-E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Pulse para editar el formato de texto del esquema</a:t>
            </a:r>
            <a:endParaRPr lang="es-E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nivel del esquema</a:t>
            </a:r>
            <a:endParaRPr lang="es-E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Tercer nivel del esquema</a:t>
            </a:r>
            <a:endParaRPr lang="es-E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Cuarto nivel del esquema</a:t>
            </a:r>
            <a:endParaRPr lang="es-E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nivel del esquema</a:t>
            </a:r>
            <a:endParaRPr lang="es-E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Sexto nivel del esquema</a:t>
            </a:r>
            <a:endParaRPr lang="es-E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Séptimo nivel del esquema</a:t>
            </a:r>
            <a:endParaRPr lang="es-E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C2B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0"/>
          <p:cNvSpPr/>
          <p:nvPr/>
        </p:nvSpPr>
        <p:spPr>
          <a:xfrm>
            <a:off x="0" y="0"/>
            <a:ext cx="200520" cy="5142960"/>
          </a:xfrm>
          <a:prstGeom prst="rect">
            <a:avLst/>
          </a:prstGeom>
          <a:solidFill>
            <a:srgbClr val="4EADD4"/>
          </a:solidFill>
          <a:ln w="12700">
            <a:solidFill>
              <a:srgbClr val="4EAD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Text 1"/>
          <p:cNvSpPr/>
          <p:nvPr/>
        </p:nvSpPr>
        <p:spPr>
          <a:xfrm>
            <a:off x="384120" y="274320"/>
            <a:ext cx="45712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pc="201" strike="noStrike">
                <a:solidFill>
                  <a:srgbClr val="8DA9C4"/>
                </a:solidFill>
                <a:effectLst/>
                <a:uFillTx/>
                <a:latin typeface="Calibri"/>
                <a:ea typeface="Calibri"/>
              </a:rPr>
              <a:t>PROYECTO BBDD · BOOTCAMP</a:t>
            </a:r>
            <a:endParaRPr lang="es-E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" name="Text 2"/>
          <p:cNvSpPr/>
          <p:nvPr/>
        </p:nvSpPr>
        <p:spPr>
          <a:xfrm>
            <a:off x="384120" y="621720"/>
            <a:ext cx="511992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Modelo Entidad–Relación</a:t>
            </a:r>
            <a:endParaRPr lang="es-ES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" name="Text 3"/>
          <p:cNvSpPr/>
          <p:nvPr/>
        </p:nvSpPr>
        <p:spPr>
          <a:xfrm>
            <a:off x="384120" y="1463040"/>
            <a:ext cx="493704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4EADD4"/>
                </a:solidFill>
                <a:effectLst/>
                <a:uFillTx/>
                <a:latin typeface="Calibri"/>
                <a:ea typeface="Calibri"/>
              </a:rPr>
              <a:t>¿Qué es el modelo E/R?</a:t>
            </a:r>
            <a:endParaRPr lang="es-E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" name="Text 4"/>
          <p:cNvSpPr/>
          <p:nvPr/>
        </p:nvSpPr>
        <p:spPr>
          <a:xfrm>
            <a:off x="384120" y="1810440"/>
            <a:ext cx="4754160" cy="77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0F4F8"/>
                </a:solidFill>
                <a:effectLst/>
                <a:uFillTx/>
                <a:latin typeface="Calibri"/>
                <a:ea typeface="Calibri"/>
              </a:rPr>
              <a:t>Describe qué existe en el sistema y cómo se relaciona, sin entrar en detalles técnicos. No habla de tablas ni SQL — solo de entidades y relaciones. Las relaciones N:M se representan con rombos, sin tabla puente.</a:t>
            </a:r>
            <a:endParaRPr lang="es-E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" name="Shape 5"/>
          <p:cNvSpPr/>
          <p:nvPr/>
        </p:nvSpPr>
        <p:spPr>
          <a:xfrm>
            <a:off x="384120" y="2724840"/>
            <a:ext cx="8375040" cy="291960"/>
          </a:xfrm>
          <a:prstGeom prst="rect">
            <a:avLst/>
          </a:prstGeom>
          <a:solidFill>
            <a:srgbClr val="2D6A9F"/>
          </a:solidFill>
          <a:ln w="12700">
            <a:solidFill>
              <a:srgbClr val="2D6A9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" name="Text 6"/>
          <p:cNvSpPr/>
          <p:nvPr/>
        </p:nvSpPr>
        <p:spPr>
          <a:xfrm>
            <a:off x="475560" y="2724840"/>
            <a:ext cx="822888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Relación</a:t>
            </a: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	</a:t>
            </a: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	</a:t>
            </a: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Cardinalidad</a:t>
            </a: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	</a:t>
            </a: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	</a:t>
            </a: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	</a:t>
            </a: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	</a:t>
            </a: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Explicación</a:t>
            </a:r>
            <a:endParaRPr lang="es-E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" name="Shape 7"/>
          <p:cNvSpPr/>
          <p:nvPr/>
        </p:nvSpPr>
        <p:spPr>
          <a:xfrm>
            <a:off x="384120" y="3017520"/>
            <a:ext cx="8375040" cy="250920"/>
          </a:xfrm>
          <a:prstGeom prst="rect">
            <a:avLst/>
          </a:prstGeom>
          <a:solidFill>
            <a:srgbClr val="1E3354"/>
          </a:solidFill>
          <a:ln w="12700">
            <a:solidFill>
              <a:srgbClr val="1E335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" name="Text 8"/>
          <p:cNvSpPr/>
          <p:nvPr/>
        </p:nvSpPr>
        <p:spPr>
          <a:xfrm>
            <a:off x="475560" y="3026520"/>
            <a:ext cx="2833920" cy="23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F0F4F8"/>
                </a:solidFill>
                <a:effectLst/>
                <a:uFillTx/>
                <a:latin typeface="Calibri"/>
                <a:ea typeface="Calibri"/>
              </a:rPr>
              <a:t>Sedes → Promociones</a:t>
            </a:r>
            <a:endParaRPr lang="es-E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" name="Shape 9"/>
          <p:cNvSpPr/>
          <p:nvPr/>
        </p:nvSpPr>
        <p:spPr>
          <a:xfrm>
            <a:off x="3401640" y="3063240"/>
            <a:ext cx="657720" cy="173160"/>
          </a:xfrm>
          <a:prstGeom prst="roundRect">
            <a:avLst>
              <a:gd name="adj" fmla="val 26316"/>
            </a:avLst>
          </a:prstGeom>
          <a:solidFill>
            <a:srgbClr val="4EADD4"/>
          </a:solidFill>
          <a:ln w="12700">
            <a:solidFill>
              <a:srgbClr val="4EAD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Text 10"/>
          <p:cNvSpPr/>
          <p:nvPr/>
        </p:nvSpPr>
        <p:spPr>
          <a:xfrm>
            <a:off x="3401640" y="3054240"/>
            <a:ext cx="65772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1:N</a:t>
            </a:r>
            <a:endParaRPr lang="es-E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" name="Text 11"/>
          <p:cNvSpPr/>
          <p:nvPr/>
        </p:nvSpPr>
        <p:spPr>
          <a:xfrm>
            <a:off x="4169520" y="3026520"/>
            <a:ext cx="4525560" cy="23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8DA9C4"/>
                </a:solidFill>
                <a:effectLst/>
                <a:uFillTx/>
                <a:latin typeface="Calibri"/>
                <a:ea typeface="Calibri"/>
              </a:rPr>
              <a:t>Una sede alberga muchas promociones</a:t>
            </a:r>
            <a:endParaRPr lang="es-E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" name="Shape 12"/>
          <p:cNvSpPr/>
          <p:nvPr/>
        </p:nvSpPr>
        <p:spPr>
          <a:xfrm>
            <a:off x="384120" y="3269160"/>
            <a:ext cx="8375040" cy="250920"/>
          </a:xfrm>
          <a:prstGeom prst="rect">
            <a:avLst/>
          </a:prstGeom>
          <a:solidFill>
            <a:srgbClr val="223060"/>
          </a:solidFill>
          <a:ln w="12700">
            <a:solidFill>
              <a:srgbClr val="22306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" name="Text 13"/>
          <p:cNvSpPr/>
          <p:nvPr/>
        </p:nvSpPr>
        <p:spPr>
          <a:xfrm>
            <a:off x="475560" y="3278160"/>
            <a:ext cx="2833920" cy="23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F0F4F8"/>
                </a:solidFill>
                <a:effectLst/>
                <a:uFillTx/>
                <a:latin typeface="Calibri"/>
                <a:ea typeface="Calibri"/>
              </a:rPr>
              <a:t>Modalidades → Promociones</a:t>
            </a:r>
            <a:endParaRPr lang="es-E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" name="Shape 14"/>
          <p:cNvSpPr/>
          <p:nvPr/>
        </p:nvSpPr>
        <p:spPr>
          <a:xfrm>
            <a:off x="3401640" y="3314880"/>
            <a:ext cx="657720" cy="173160"/>
          </a:xfrm>
          <a:prstGeom prst="roundRect">
            <a:avLst>
              <a:gd name="adj" fmla="val 26316"/>
            </a:avLst>
          </a:prstGeom>
          <a:solidFill>
            <a:srgbClr val="4EADD4"/>
          </a:solidFill>
          <a:ln w="12700">
            <a:solidFill>
              <a:srgbClr val="4EAD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Text 15"/>
          <p:cNvSpPr/>
          <p:nvPr/>
        </p:nvSpPr>
        <p:spPr>
          <a:xfrm>
            <a:off x="3401640" y="3305520"/>
            <a:ext cx="65772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1:N</a:t>
            </a:r>
            <a:endParaRPr lang="es-E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" name="Text 16"/>
          <p:cNvSpPr/>
          <p:nvPr/>
        </p:nvSpPr>
        <p:spPr>
          <a:xfrm>
            <a:off x="4169520" y="3278160"/>
            <a:ext cx="4525560" cy="23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8DA9C4"/>
                </a:solidFill>
                <a:effectLst/>
                <a:uFillTx/>
                <a:latin typeface="Calibri"/>
                <a:ea typeface="Calibri"/>
              </a:rPr>
              <a:t>Una modalidad clasifica muchas promociones</a:t>
            </a:r>
            <a:endParaRPr lang="es-E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" name="Shape 17"/>
          <p:cNvSpPr/>
          <p:nvPr/>
        </p:nvSpPr>
        <p:spPr>
          <a:xfrm>
            <a:off x="384120" y="3520440"/>
            <a:ext cx="8375040" cy="250920"/>
          </a:xfrm>
          <a:prstGeom prst="rect">
            <a:avLst/>
          </a:prstGeom>
          <a:solidFill>
            <a:srgbClr val="1E3354"/>
          </a:solidFill>
          <a:ln w="12700">
            <a:solidFill>
              <a:srgbClr val="1E335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" name="Text 18"/>
          <p:cNvSpPr/>
          <p:nvPr/>
        </p:nvSpPr>
        <p:spPr>
          <a:xfrm>
            <a:off x="475560" y="3529440"/>
            <a:ext cx="2833920" cy="23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F0F4F8"/>
                </a:solidFill>
                <a:effectLst/>
                <a:uFillTx/>
                <a:latin typeface="Calibri"/>
                <a:ea typeface="Calibri"/>
              </a:rPr>
              <a:t>Cursos → Promociones</a:t>
            </a:r>
            <a:endParaRPr lang="es-E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" name="Shape 19"/>
          <p:cNvSpPr/>
          <p:nvPr/>
        </p:nvSpPr>
        <p:spPr>
          <a:xfrm>
            <a:off x="3401640" y="3566160"/>
            <a:ext cx="657720" cy="173160"/>
          </a:xfrm>
          <a:prstGeom prst="roundRect">
            <a:avLst>
              <a:gd name="adj" fmla="val 26316"/>
            </a:avLst>
          </a:prstGeom>
          <a:solidFill>
            <a:srgbClr val="4EADD4"/>
          </a:solidFill>
          <a:ln w="12700">
            <a:solidFill>
              <a:srgbClr val="4EAD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Text 20"/>
          <p:cNvSpPr/>
          <p:nvPr/>
        </p:nvSpPr>
        <p:spPr>
          <a:xfrm>
            <a:off x="3401640" y="3557160"/>
            <a:ext cx="65772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1:N</a:t>
            </a:r>
            <a:endParaRPr lang="es-E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" name="Text 21"/>
          <p:cNvSpPr/>
          <p:nvPr/>
        </p:nvSpPr>
        <p:spPr>
          <a:xfrm>
            <a:off x="4169520" y="3529440"/>
            <a:ext cx="4525560" cy="23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8DA9C4"/>
                </a:solidFill>
                <a:effectLst/>
                <a:uFillTx/>
                <a:latin typeface="Calibri"/>
                <a:ea typeface="Calibri"/>
              </a:rPr>
              <a:t>Un curso agrupa muchas promociones</a:t>
            </a:r>
            <a:endParaRPr lang="es-E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" name="Shape 22"/>
          <p:cNvSpPr/>
          <p:nvPr/>
        </p:nvSpPr>
        <p:spPr>
          <a:xfrm>
            <a:off x="384120" y="3772080"/>
            <a:ext cx="8375040" cy="250920"/>
          </a:xfrm>
          <a:prstGeom prst="rect">
            <a:avLst/>
          </a:prstGeom>
          <a:solidFill>
            <a:srgbClr val="223060"/>
          </a:solidFill>
          <a:ln w="12700">
            <a:solidFill>
              <a:srgbClr val="22306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" name="Text 23"/>
          <p:cNvSpPr/>
          <p:nvPr/>
        </p:nvSpPr>
        <p:spPr>
          <a:xfrm>
            <a:off x="475560" y="3781080"/>
            <a:ext cx="2833920" cy="23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F0F4F8"/>
                </a:solidFill>
                <a:effectLst/>
                <a:uFillTx/>
                <a:latin typeface="Calibri"/>
                <a:ea typeface="Calibri"/>
              </a:rPr>
              <a:t>Cursos → Proyectos</a:t>
            </a:r>
            <a:endParaRPr lang="es-E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" name="Shape 24"/>
          <p:cNvSpPr/>
          <p:nvPr/>
        </p:nvSpPr>
        <p:spPr>
          <a:xfrm>
            <a:off x="3401640" y="3817800"/>
            <a:ext cx="657720" cy="173160"/>
          </a:xfrm>
          <a:prstGeom prst="roundRect">
            <a:avLst>
              <a:gd name="adj" fmla="val 26316"/>
            </a:avLst>
          </a:prstGeom>
          <a:solidFill>
            <a:srgbClr val="4EADD4"/>
          </a:solidFill>
          <a:ln w="12700">
            <a:solidFill>
              <a:srgbClr val="4EAD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Text 25"/>
          <p:cNvSpPr/>
          <p:nvPr/>
        </p:nvSpPr>
        <p:spPr>
          <a:xfrm>
            <a:off x="3401640" y="3808440"/>
            <a:ext cx="65772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1:N</a:t>
            </a:r>
            <a:endParaRPr lang="es-E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" name="Text 26"/>
          <p:cNvSpPr/>
          <p:nvPr/>
        </p:nvSpPr>
        <p:spPr>
          <a:xfrm>
            <a:off x="4169520" y="3781080"/>
            <a:ext cx="4525560" cy="23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8DA9C4"/>
                </a:solidFill>
                <a:effectLst/>
                <a:uFillTx/>
                <a:latin typeface="Calibri"/>
                <a:ea typeface="Calibri"/>
              </a:rPr>
              <a:t>Un curso incluye varios proyectos evaluables</a:t>
            </a:r>
            <a:endParaRPr lang="es-E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" name="Shape 27"/>
          <p:cNvSpPr/>
          <p:nvPr/>
        </p:nvSpPr>
        <p:spPr>
          <a:xfrm>
            <a:off x="384120" y="4023360"/>
            <a:ext cx="8375040" cy="250920"/>
          </a:xfrm>
          <a:prstGeom prst="rect">
            <a:avLst/>
          </a:prstGeom>
          <a:solidFill>
            <a:srgbClr val="1E3354"/>
          </a:solidFill>
          <a:ln w="12700">
            <a:solidFill>
              <a:srgbClr val="1E335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" name="Text 28"/>
          <p:cNvSpPr/>
          <p:nvPr/>
        </p:nvSpPr>
        <p:spPr>
          <a:xfrm>
            <a:off x="475560" y="4032360"/>
            <a:ext cx="2833920" cy="23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F0F4F8"/>
                </a:solidFill>
                <a:effectLst/>
                <a:uFillTx/>
                <a:latin typeface="Calibri"/>
                <a:ea typeface="Calibri"/>
              </a:rPr>
              <a:t>Roles → Profesores</a:t>
            </a:r>
            <a:endParaRPr lang="es-E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" name="Shape 29"/>
          <p:cNvSpPr/>
          <p:nvPr/>
        </p:nvSpPr>
        <p:spPr>
          <a:xfrm>
            <a:off x="3401640" y="4069080"/>
            <a:ext cx="657720" cy="173160"/>
          </a:xfrm>
          <a:prstGeom prst="roundRect">
            <a:avLst>
              <a:gd name="adj" fmla="val 26316"/>
            </a:avLst>
          </a:prstGeom>
          <a:solidFill>
            <a:srgbClr val="4EADD4"/>
          </a:solidFill>
          <a:ln w="12700">
            <a:solidFill>
              <a:srgbClr val="4EAD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Text 30"/>
          <p:cNvSpPr/>
          <p:nvPr/>
        </p:nvSpPr>
        <p:spPr>
          <a:xfrm>
            <a:off x="3401640" y="4060080"/>
            <a:ext cx="65772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1:N</a:t>
            </a:r>
            <a:endParaRPr lang="es-E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" name="Text 31"/>
          <p:cNvSpPr/>
          <p:nvPr/>
        </p:nvSpPr>
        <p:spPr>
          <a:xfrm>
            <a:off x="4169520" y="4032360"/>
            <a:ext cx="4525560" cy="23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8DA9C4"/>
                </a:solidFill>
                <a:effectLst/>
                <a:uFillTx/>
                <a:latin typeface="Calibri"/>
                <a:ea typeface="Calibri"/>
              </a:rPr>
              <a:t>Un rol clasifica a muchos profesores</a:t>
            </a:r>
            <a:endParaRPr lang="es-E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" name="Shape 32"/>
          <p:cNvSpPr/>
          <p:nvPr/>
        </p:nvSpPr>
        <p:spPr>
          <a:xfrm>
            <a:off x="384120" y="4275000"/>
            <a:ext cx="8375040" cy="250920"/>
          </a:xfrm>
          <a:prstGeom prst="rect">
            <a:avLst/>
          </a:prstGeom>
          <a:solidFill>
            <a:srgbClr val="223060"/>
          </a:solidFill>
          <a:ln w="12700">
            <a:solidFill>
              <a:srgbClr val="22306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" name="Text 33"/>
          <p:cNvSpPr/>
          <p:nvPr/>
        </p:nvSpPr>
        <p:spPr>
          <a:xfrm>
            <a:off x="475560" y="4284000"/>
            <a:ext cx="2833920" cy="23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F0F4F8"/>
                </a:solidFill>
                <a:effectLst/>
                <a:uFillTx/>
                <a:latin typeface="Calibri"/>
                <a:ea typeface="Calibri"/>
              </a:rPr>
              <a:t>Promociones → Alumnos</a:t>
            </a:r>
            <a:endParaRPr lang="es-E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" name="Shape 34"/>
          <p:cNvSpPr/>
          <p:nvPr/>
        </p:nvSpPr>
        <p:spPr>
          <a:xfrm>
            <a:off x="3401640" y="4320720"/>
            <a:ext cx="657720" cy="173160"/>
          </a:xfrm>
          <a:prstGeom prst="roundRect">
            <a:avLst>
              <a:gd name="adj" fmla="val 26316"/>
            </a:avLst>
          </a:prstGeom>
          <a:solidFill>
            <a:srgbClr val="4EADD4"/>
          </a:solidFill>
          <a:ln w="12700">
            <a:solidFill>
              <a:srgbClr val="4EAD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Text 35"/>
          <p:cNvSpPr/>
          <p:nvPr/>
        </p:nvSpPr>
        <p:spPr>
          <a:xfrm>
            <a:off x="3401640" y="4311360"/>
            <a:ext cx="65772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1:N</a:t>
            </a:r>
            <a:endParaRPr lang="es-E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" name="Text 36"/>
          <p:cNvSpPr/>
          <p:nvPr/>
        </p:nvSpPr>
        <p:spPr>
          <a:xfrm>
            <a:off x="4169520" y="4284000"/>
            <a:ext cx="4525560" cy="23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8DA9C4"/>
                </a:solidFill>
                <a:effectLst/>
                <a:uFillTx/>
                <a:latin typeface="Calibri"/>
                <a:ea typeface="Calibri"/>
              </a:rPr>
              <a:t>Una promoción inscribe a muchos alumnos</a:t>
            </a:r>
            <a:endParaRPr lang="es-E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" name="Shape 37"/>
          <p:cNvSpPr/>
          <p:nvPr/>
        </p:nvSpPr>
        <p:spPr>
          <a:xfrm>
            <a:off x="384120" y="4526280"/>
            <a:ext cx="8375040" cy="250920"/>
          </a:xfrm>
          <a:prstGeom prst="rect">
            <a:avLst/>
          </a:prstGeom>
          <a:solidFill>
            <a:srgbClr val="1E3354"/>
          </a:solidFill>
          <a:ln w="12700">
            <a:solidFill>
              <a:srgbClr val="1E335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" name="Text 38"/>
          <p:cNvSpPr/>
          <p:nvPr/>
        </p:nvSpPr>
        <p:spPr>
          <a:xfrm>
            <a:off x="475560" y="4535280"/>
            <a:ext cx="2833920" cy="23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F0F4F8"/>
                </a:solidFill>
                <a:effectLst/>
                <a:uFillTx/>
                <a:latin typeface="Calibri"/>
                <a:ea typeface="Calibri"/>
              </a:rPr>
              <a:t>Alumnos + Proyectos → Notas</a:t>
            </a:r>
            <a:endParaRPr lang="es-E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" name="Shape 39"/>
          <p:cNvSpPr/>
          <p:nvPr/>
        </p:nvSpPr>
        <p:spPr>
          <a:xfrm>
            <a:off x="3401640" y="4572000"/>
            <a:ext cx="657720" cy="173160"/>
          </a:xfrm>
          <a:prstGeom prst="roundRect">
            <a:avLst>
              <a:gd name="adj" fmla="val 26316"/>
            </a:avLst>
          </a:prstGeom>
          <a:solidFill>
            <a:srgbClr val="4EADD4"/>
          </a:solidFill>
          <a:ln w="12700">
            <a:solidFill>
              <a:srgbClr val="4EAD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Text 40"/>
          <p:cNvSpPr/>
          <p:nvPr/>
        </p:nvSpPr>
        <p:spPr>
          <a:xfrm>
            <a:off x="3401640" y="4563000"/>
            <a:ext cx="65772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N:N→1</a:t>
            </a:r>
            <a:endParaRPr lang="es-E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" name="Text 41"/>
          <p:cNvSpPr/>
          <p:nvPr/>
        </p:nvSpPr>
        <p:spPr>
          <a:xfrm>
            <a:off x="4169520" y="4535280"/>
            <a:ext cx="4525560" cy="23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8DA9C4"/>
                </a:solidFill>
                <a:effectLst/>
                <a:uFillTx/>
                <a:latin typeface="Calibri"/>
                <a:ea typeface="Calibri"/>
              </a:rPr>
              <a:t>Cada nota pertenece a un alumno y proyecto</a:t>
            </a:r>
            <a:endParaRPr lang="es-E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" name="Shape 42"/>
          <p:cNvSpPr/>
          <p:nvPr/>
        </p:nvSpPr>
        <p:spPr>
          <a:xfrm>
            <a:off x="384120" y="4777920"/>
            <a:ext cx="8375040" cy="250920"/>
          </a:xfrm>
          <a:prstGeom prst="rect">
            <a:avLst/>
          </a:prstGeom>
          <a:solidFill>
            <a:srgbClr val="223060"/>
          </a:solidFill>
          <a:ln w="12700">
            <a:solidFill>
              <a:srgbClr val="22306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" name="Text 43"/>
          <p:cNvSpPr/>
          <p:nvPr/>
        </p:nvSpPr>
        <p:spPr>
          <a:xfrm>
            <a:off x="475560" y="4786920"/>
            <a:ext cx="2833920" cy="23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F0F4F8"/>
                </a:solidFill>
                <a:effectLst/>
                <a:uFillTx/>
                <a:latin typeface="Calibri"/>
                <a:ea typeface="Calibri"/>
              </a:rPr>
              <a:t>Profesores ↔ Promociones</a:t>
            </a:r>
            <a:endParaRPr lang="es-E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" name="Shape 44"/>
          <p:cNvSpPr/>
          <p:nvPr/>
        </p:nvSpPr>
        <p:spPr>
          <a:xfrm>
            <a:off x="3401640" y="4823640"/>
            <a:ext cx="657720" cy="173160"/>
          </a:xfrm>
          <a:prstGeom prst="roundRect">
            <a:avLst>
              <a:gd name="adj" fmla="val 26316"/>
            </a:avLst>
          </a:prstGeom>
          <a:solidFill>
            <a:srgbClr val="4EADD4"/>
          </a:solidFill>
          <a:ln w="12700">
            <a:solidFill>
              <a:srgbClr val="4EAD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Text 45"/>
          <p:cNvSpPr/>
          <p:nvPr/>
        </p:nvSpPr>
        <p:spPr>
          <a:xfrm>
            <a:off x="3401640" y="4814280"/>
            <a:ext cx="65772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N:M</a:t>
            </a:r>
            <a:endParaRPr lang="es-E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" name="Text 46"/>
          <p:cNvSpPr/>
          <p:nvPr/>
        </p:nvSpPr>
        <p:spPr>
          <a:xfrm>
            <a:off x="4169520" y="4786920"/>
            <a:ext cx="4525560" cy="23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8DA9C4"/>
                </a:solidFill>
                <a:effectLst/>
                <a:uFillTx/>
                <a:latin typeface="Calibri"/>
                <a:ea typeface="Calibri"/>
              </a:rPr>
              <a:t>Tabla puente 'imparte' en el modelo lógico</a:t>
            </a:r>
            <a:endParaRPr lang="es-E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Shape 0"/>
          <p:cNvSpPr/>
          <p:nvPr/>
        </p:nvSpPr>
        <p:spPr>
          <a:xfrm>
            <a:off x="0" y="0"/>
            <a:ext cx="200520" cy="5142960"/>
          </a:xfrm>
          <a:prstGeom prst="rect">
            <a:avLst/>
          </a:prstGeom>
          <a:solidFill>
            <a:srgbClr val="1C2B4A"/>
          </a:solidFill>
          <a:ln w="12700">
            <a:solidFill>
              <a:srgbClr val="1C2B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" name="Text 1"/>
          <p:cNvSpPr/>
          <p:nvPr/>
        </p:nvSpPr>
        <p:spPr>
          <a:xfrm>
            <a:off x="384120" y="255960"/>
            <a:ext cx="457128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pc="201" strike="noStrike">
                <a:solidFill>
                  <a:srgbClr val="8DA9C4"/>
                </a:solidFill>
                <a:effectLst/>
                <a:uFillTx/>
                <a:latin typeface="Calibri"/>
                <a:ea typeface="Calibri"/>
              </a:rPr>
              <a:t>PROYECTO BBDD · BOOTCAMP</a:t>
            </a:r>
            <a:endParaRPr lang="es-E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Text 2"/>
          <p:cNvSpPr/>
          <p:nvPr/>
        </p:nvSpPr>
        <p:spPr>
          <a:xfrm>
            <a:off x="384120" y="502920"/>
            <a:ext cx="457128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600" b="1" u="none" strike="noStrike">
                <a:solidFill>
                  <a:srgbClr val="1C2B4A"/>
                </a:solidFill>
                <a:effectLst/>
                <a:uFillTx/>
                <a:latin typeface="Calibri"/>
                <a:ea typeface="Calibri"/>
              </a:rPr>
              <a:t>Modelo Lógico</a:t>
            </a:r>
            <a:endParaRPr lang="es-E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Text 3"/>
          <p:cNvSpPr/>
          <p:nvPr/>
        </p:nvSpPr>
        <p:spPr>
          <a:xfrm>
            <a:off x="384120" y="1152000"/>
            <a:ext cx="8411760" cy="43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4A5568"/>
                </a:solidFill>
                <a:effectLst/>
                <a:uFillTx/>
                <a:latin typeface="Calibri"/>
                <a:ea typeface="Calibri"/>
              </a:rPr>
              <a:t>Convierte el modelo E/R en algo implementable en SQL: tablas con columnas, claves primarias (PK) y foráneas (FK). Las relaciones N:M se sustituyen por una tabla puente.</a:t>
            </a:r>
            <a:endParaRPr lang="es-E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Shape 4"/>
          <p:cNvSpPr/>
          <p:nvPr/>
        </p:nvSpPr>
        <p:spPr>
          <a:xfrm>
            <a:off x="384120" y="1691640"/>
            <a:ext cx="2651040" cy="495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CE8"/>
            </a:solidFill>
            <a:round/>
          </a:ln>
          <a:effectLst>
            <a:outerShdw algn="bl" blurRad="50760" dir="8100000" dist="12218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Shape 5"/>
          <p:cNvSpPr/>
          <p:nvPr/>
        </p:nvSpPr>
        <p:spPr>
          <a:xfrm>
            <a:off x="384120" y="1691640"/>
            <a:ext cx="2651040" cy="246240"/>
          </a:xfrm>
          <a:prstGeom prst="rect">
            <a:avLst/>
          </a:prstGeom>
          <a:solidFill>
            <a:srgbClr val="1C2B4A"/>
          </a:solidFill>
          <a:ln w="12700">
            <a:solidFill>
              <a:srgbClr val="1C2B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" name="Text 6"/>
          <p:cNvSpPr/>
          <p:nvPr/>
        </p:nvSpPr>
        <p:spPr>
          <a:xfrm>
            <a:off x="475560" y="1691640"/>
            <a:ext cx="2468160" cy="24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SEDES</a:t>
            </a:r>
            <a:endParaRPr lang="es-E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Text 7"/>
          <p:cNvSpPr/>
          <p:nvPr/>
        </p:nvSpPr>
        <p:spPr>
          <a:xfrm>
            <a:off x="475560" y="1956960"/>
            <a:ext cx="2468160" cy="14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1C2B4A"/>
                </a:solidFill>
                <a:effectLst/>
                <a:uFillTx/>
                <a:latin typeface="Calibri"/>
                <a:ea typeface="Calibri"/>
              </a:rPr>
              <a:t>🔑 id_sede  PK  SERIAL</a:t>
            </a:r>
            <a:endParaRPr lang="es-E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Text 8"/>
          <p:cNvSpPr/>
          <p:nvPr/>
        </p:nvSpPr>
        <p:spPr>
          <a:xfrm>
            <a:off x="475560" y="2123280"/>
            <a:ext cx="2468160" cy="12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4A5568"/>
                </a:solidFill>
                <a:effectLst/>
                <a:uFillTx/>
                <a:latin typeface="Calibri"/>
                <a:ea typeface="Calibri"/>
              </a:rPr>
              <a:t>  nombre VARCHAR</a:t>
            </a:r>
            <a:endParaRPr lang="es-E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Shape 9"/>
          <p:cNvSpPr/>
          <p:nvPr/>
        </p:nvSpPr>
        <p:spPr>
          <a:xfrm>
            <a:off x="384120" y="2237400"/>
            <a:ext cx="2651040" cy="495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CE8"/>
            </a:solidFill>
            <a:round/>
          </a:ln>
          <a:effectLst>
            <a:outerShdw algn="bl" blurRad="50760" dir="8100000" dist="12218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Shape 10"/>
          <p:cNvSpPr/>
          <p:nvPr/>
        </p:nvSpPr>
        <p:spPr>
          <a:xfrm>
            <a:off x="384120" y="2237400"/>
            <a:ext cx="2651040" cy="246240"/>
          </a:xfrm>
          <a:prstGeom prst="rect">
            <a:avLst/>
          </a:prstGeom>
          <a:solidFill>
            <a:srgbClr val="1C2B4A"/>
          </a:solidFill>
          <a:ln w="12700">
            <a:solidFill>
              <a:srgbClr val="1C2B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" name="Text 11"/>
          <p:cNvSpPr/>
          <p:nvPr/>
        </p:nvSpPr>
        <p:spPr>
          <a:xfrm>
            <a:off x="475560" y="2237400"/>
            <a:ext cx="2468160" cy="24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MODALIDADES</a:t>
            </a:r>
            <a:endParaRPr lang="es-E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Text 12"/>
          <p:cNvSpPr/>
          <p:nvPr/>
        </p:nvSpPr>
        <p:spPr>
          <a:xfrm>
            <a:off x="475560" y="2502720"/>
            <a:ext cx="2468160" cy="14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1C2B4A"/>
                </a:solidFill>
                <a:effectLst/>
                <a:uFillTx/>
                <a:latin typeface="Calibri"/>
                <a:ea typeface="Calibri"/>
              </a:rPr>
              <a:t>🔑 id_modalidad  PK  SERIAL</a:t>
            </a:r>
            <a:endParaRPr lang="es-E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Text 13"/>
          <p:cNvSpPr/>
          <p:nvPr/>
        </p:nvSpPr>
        <p:spPr>
          <a:xfrm>
            <a:off x="475560" y="2669040"/>
            <a:ext cx="2468160" cy="12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4A5568"/>
                </a:solidFill>
                <a:effectLst/>
                <a:uFillTx/>
                <a:latin typeface="Calibri"/>
                <a:ea typeface="Calibri"/>
              </a:rPr>
              <a:t>  nombre VARCHAR</a:t>
            </a:r>
            <a:endParaRPr lang="es-E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Shape 14"/>
          <p:cNvSpPr/>
          <p:nvPr/>
        </p:nvSpPr>
        <p:spPr>
          <a:xfrm>
            <a:off x="384120" y="2783520"/>
            <a:ext cx="2651040" cy="62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CE8"/>
            </a:solidFill>
            <a:round/>
          </a:ln>
          <a:effectLst>
            <a:outerShdw algn="bl" blurRad="50760" dir="8100000" dist="12218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Shape 15"/>
          <p:cNvSpPr/>
          <p:nvPr/>
        </p:nvSpPr>
        <p:spPr>
          <a:xfrm>
            <a:off x="384120" y="2783520"/>
            <a:ext cx="2651040" cy="246240"/>
          </a:xfrm>
          <a:prstGeom prst="rect">
            <a:avLst/>
          </a:prstGeom>
          <a:solidFill>
            <a:srgbClr val="1C2B4A"/>
          </a:solidFill>
          <a:ln w="12700">
            <a:solidFill>
              <a:srgbClr val="1C2B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" name="Text 16"/>
          <p:cNvSpPr/>
          <p:nvPr/>
        </p:nvSpPr>
        <p:spPr>
          <a:xfrm>
            <a:off x="475560" y="2783520"/>
            <a:ext cx="2468160" cy="24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ROLES</a:t>
            </a:r>
            <a:endParaRPr lang="es-E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Text 17"/>
          <p:cNvSpPr/>
          <p:nvPr/>
        </p:nvSpPr>
        <p:spPr>
          <a:xfrm>
            <a:off x="475560" y="3048480"/>
            <a:ext cx="2468160" cy="14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1C2B4A"/>
                </a:solidFill>
                <a:effectLst/>
                <a:uFillTx/>
                <a:latin typeface="Calibri"/>
                <a:ea typeface="Calibri"/>
              </a:rPr>
              <a:t>🔑 id_rol  PK  SERIAL</a:t>
            </a:r>
            <a:endParaRPr lang="es-E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Text 18"/>
          <p:cNvSpPr/>
          <p:nvPr/>
        </p:nvSpPr>
        <p:spPr>
          <a:xfrm>
            <a:off x="475560" y="3215160"/>
            <a:ext cx="2468160" cy="12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4A5568"/>
                </a:solidFill>
                <a:effectLst/>
                <a:uFillTx/>
                <a:latin typeface="Calibri"/>
                <a:ea typeface="Calibri"/>
              </a:rPr>
              <a:t>  codigo VARCHAR</a:t>
            </a:r>
            <a:endParaRPr lang="es-E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Text 19"/>
          <p:cNvSpPr/>
          <p:nvPr/>
        </p:nvSpPr>
        <p:spPr>
          <a:xfrm>
            <a:off x="475560" y="3344760"/>
            <a:ext cx="2468160" cy="12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4A5568"/>
                </a:solidFill>
                <a:effectLst/>
                <a:uFillTx/>
                <a:latin typeface="Calibri"/>
                <a:ea typeface="Calibri"/>
              </a:rPr>
              <a:t>  nombre VARCHAR</a:t>
            </a:r>
            <a:endParaRPr lang="es-E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Shape 20"/>
          <p:cNvSpPr/>
          <p:nvPr/>
        </p:nvSpPr>
        <p:spPr>
          <a:xfrm>
            <a:off x="384120" y="3459240"/>
            <a:ext cx="2651040" cy="62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CE8"/>
            </a:solidFill>
            <a:round/>
          </a:ln>
          <a:effectLst>
            <a:outerShdw algn="bl" blurRad="50760" dir="8100000" dist="12218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Shape 21"/>
          <p:cNvSpPr/>
          <p:nvPr/>
        </p:nvSpPr>
        <p:spPr>
          <a:xfrm>
            <a:off x="384120" y="3459240"/>
            <a:ext cx="2651040" cy="246240"/>
          </a:xfrm>
          <a:prstGeom prst="rect">
            <a:avLst/>
          </a:prstGeom>
          <a:solidFill>
            <a:srgbClr val="1C2B4A"/>
          </a:solidFill>
          <a:ln w="12700">
            <a:solidFill>
              <a:srgbClr val="1C2B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9" name="Text 22"/>
          <p:cNvSpPr/>
          <p:nvPr/>
        </p:nvSpPr>
        <p:spPr>
          <a:xfrm>
            <a:off x="475560" y="3459240"/>
            <a:ext cx="2468160" cy="24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CURSOS</a:t>
            </a:r>
            <a:endParaRPr lang="es-E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Text 23"/>
          <p:cNvSpPr/>
          <p:nvPr/>
        </p:nvSpPr>
        <p:spPr>
          <a:xfrm>
            <a:off x="475560" y="3724200"/>
            <a:ext cx="2468160" cy="14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1C2B4A"/>
                </a:solidFill>
                <a:effectLst/>
                <a:uFillTx/>
                <a:latin typeface="Calibri"/>
                <a:ea typeface="Calibri"/>
              </a:rPr>
              <a:t>🔑 id_curso  PK  SERIAL</a:t>
            </a:r>
            <a:endParaRPr lang="es-E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Text 24"/>
          <p:cNvSpPr/>
          <p:nvPr/>
        </p:nvSpPr>
        <p:spPr>
          <a:xfrm>
            <a:off x="475560" y="3890880"/>
            <a:ext cx="2468160" cy="12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4A5568"/>
                </a:solidFill>
                <a:effectLst/>
                <a:uFillTx/>
                <a:latin typeface="Calibri"/>
                <a:ea typeface="Calibri"/>
              </a:rPr>
              <a:t>  codigo VARCHAR</a:t>
            </a:r>
            <a:endParaRPr lang="es-E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Text 25"/>
          <p:cNvSpPr/>
          <p:nvPr/>
        </p:nvSpPr>
        <p:spPr>
          <a:xfrm>
            <a:off x="475560" y="4020480"/>
            <a:ext cx="2468160" cy="12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4A5568"/>
                </a:solidFill>
                <a:effectLst/>
                <a:uFillTx/>
                <a:latin typeface="Calibri"/>
                <a:ea typeface="Calibri"/>
              </a:rPr>
              <a:t>  nombre VARCHAR</a:t>
            </a:r>
            <a:endParaRPr lang="es-E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Shape 26"/>
          <p:cNvSpPr/>
          <p:nvPr/>
        </p:nvSpPr>
        <p:spPr>
          <a:xfrm>
            <a:off x="3246120" y="1691640"/>
            <a:ext cx="2651040" cy="62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CE8"/>
            </a:solidFill>
            <a:round/>
          </a:ln>
          <a:effectLst>
            <a:outerShdw algn="bl" blurRad="50760" dir="8100000" dist="12218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Shape 27"/>
          <p:cNvSpPr/>
          <p:nvPr/>
        </p:nvSpPr>
        <p:spPr>
          <a:xfrm>
            <a:off x="3246120" y="1691640"/>
            <a:ext cx="2651040" cy="246240"/>
          </a:xfrm>
          <a:prstGeom prst="rect">
            <a:avLst/>
          </a:prstGeom>
          <a:solidFill>
            <a:srgbClr val="1C2B4A"/>
          </a:solidFill>
          <a:ln w="12700">
            <a:solidFill>
              <a:srgbClr val="1C2B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5" name="Text 28"/>
          <p:cNvSpPr/>
          <p:nvPr/>
        </p:nvSpPr>
        <p:spPr>
          <a:xfrm>
            <a:off x="3337560" y="1691640"/>
            <a:ext cx="2468160" cy="24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PROFESORES</a:t>
            </a:r>
            <a:endParaRPr lang="es-E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Text 29"/>
          <p:cNvSpPr/>
          <p:nvPr/>
        </p:nvSpPr>
        <p:spPr>
          <a:xfrm>
            <a:off x="3337560" y="1956960"/>
            <a:ext cx="2468160" cy="14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1C2B4A"/>
                </a:solidFill>
                <a:effectLst/>
                <a:uFillTx/>
                <a:latin typeface="Calibri"/>
                <a:ea typeface="Calibri"/>
              </a:rPr>
              <a:t>🔑 id_profesor  PK  SERIAL</a:t>
            </a:r>
            <a:endParaRPr lang="es-E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Text 30"/>
          <p:cNvSpPr/>
          <p:nvPr/>
        </p:nvSpPr>
        <p:spPr>
          <a:xfrm>
            <a:off x="3337560" y="2123280"/>
            <a:ext cx="2468160" cy="12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4A5568"/>
                </a:solidFill>
                <a:effectLst/>
                <a:uFillTx/>
                <a:latin typeface="Calibri"/>
                <a:ea typeface="Calibri"/>
              </a:rPr>
              <a:t>  nombre VARCHAR</a:t>
            </a:r>
            <a:endParaRPr lang="es-E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Text 31"/>
          <p:cNvSpPr/>
          <p:nvPr/>
        </p:nvSpPr>
        <p:spPr>
          <a:xfrm>
            <a:off x="3337560" y="2253240"/>
            <a:ext cx="2468160" cy="12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2D6A9F"/>
                </a:solidFill>
                <a:effectLst/>
                <a:uFillTx/>
                <a:latin typeface="Calibri"/>
                <a:ea typeface="Calibri"/>
              </a:rPr>
              <a:t>🔗 id_rol FK</a:t>
            </a:r>
            <a:endParaRPr lang="es-E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Shape 32"/>
          <p:cNvSpPr/>
          <p:nvPr/>
        </p:nvSpPr>
        <p:spPr>
          <a:xfrm>
            <a:off x="3246120" y="2367360"/>
            <a:ext cx="2651040" cy="1014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CE8"/>
            </a:solidFill>
            <a:round/>
          </a:ln>
          <a:effectLst>
            <a:outerShdw algn="bl" blurRad="50760" dir="8100000" dist="12218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Shape 33"/>
          <p:cNvSpPr/>
          <p:nvPr/>
        </p:nvSpPr>
        <p:spPr>
          <a:xfrm>
            <a:off x="3246120" y="2367360"/>
            <a:ext cx="2651040" cy="246240"/>
          </a:xfrm>
          <a:prstGeom prst="rect">
            <a:avLst/>
          </a:prstGeom>
          <a:solidFill>
            <a:srgbClr val="1C2B4A"/>
          </a:solidFill>
          <a:ln w="12700">
            <a:solidFill>
              <a:srgbClr val="1C2B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1" name="Text 34"/>
          <p:cNvSpPr/>
          <p:nvPr/>
        </p:nvSpPr>
        <p:spPr>
          <a:xfrm>
            <a:off x="3337560" y="2367360"/>
            <a:ext cx="2468160" cy="24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PROMOCIONES</a:t>
            </a:r>
            <a:endParaRPr lang="es-E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Text 35"/>
          <p:cNvSpPr/>
          <p:nvPr/>
        </p:nvSpPr>
        <p:spPr>
          <a:xfrm>
            <a:off x="3337560" y="2632680"/>
            <a:ext cx="2468160" cy="14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1C2B4A"/>
                </a:solidFill>
                <a:effectLst/>
                <a:uFillTx/>
                <a:latin typeface="Calibri"/>
                <a:ea typeface="Calibri"/>
              </a:rPr>
              <a:t>🔑 id_promocion  PK  SERIAL</a:t>
            </a:r>
            <a:endParaRPr lang="es-E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Text 36"/>
          <p:cNvSpPr/>
          <p:nvPr/>
        </p:nvSpPr>
        <p:spPr>
          <a:xfrm>
            <a:off x="3337560" y="2799000"/>
            <a:ext cx="2468160" cy="12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4A5568"/>
                </a:solidFill>
                <a:effectLst/>
                <a:uFillTx/>
                <a:latin typeface="Calibri"/>
                <a:ea typeface="Calibri"/>
              </a:rPr>
              <a:t>  nombre VARCHAR</a:t>
            </a:r>
            <a:endParaRPr lang="es-E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Text 37"/>
          <p:cNvSpPr/>
          <p:nvPr/>
        </p:nvSpPr>
        <p:spPr>
          <a:xfrm>
            <a:off x="3337560" y="2928960"/>
            <a:ext cx="2468160" cy="12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4A5568"/>
                </a:solidFill>
                <a:effectLst/>
                <a:uFillTx/>
                <a:latin typeface="Calibri"/>
                <a:ea typeface="Calibri"/>
              </a:rPr>
              <a:t>  fecha_comienzo DATE</a:t>
            </a:r>
            <a:endParaRPr lang="es-E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Text 38"/>
          <p:cNvSpPr/>
          <p:nvPr/>
        </p:nvSpPr>
        <p:spPr>
          <a:xfrm>
            <a:off x="3337560" y="3058560"/>
            <a:ext cx="2468160" cy="12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2D6A9F"/>
                </a:solidFill>
                <a:effectLst/>
                <a:uFillTx/>
                <a:latin typeface="Calibri"/>
                <a:ea typeface="Calibri"/>
              </a:rPr>
              <a:t>🔗 id_sede FK</a:t>
            </a:r>
            <a:endParaRPr lang="es-E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Text 39"/>
          <p:cNvSpPr/>
          <p:nvPr/>
        </p:nvSpPr>
        <p:spPr>
          <a:xfrm>
            <a:off x="3337560" y="3188520"/>
            <a:ext cx="2468160" cy="12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2D6A9F"/>
                </a:solidFill>
                <a:effectLst/>
                <a:uFillTx/>
                <a:latin typeface="Calibri"/>
                <a:ea typeface="Calibri"/>
              </a:rPr>
              <a:t>🔗 id_modalidad FK</a:t>
            </a:r>
            <a:endParaRPr lang="es-E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Text 40"/>
          <p:cNvSpPr/>
          <p:nvPr/>
        </p:nvSpPr>
        <p:spPr>
          <a:xfrm>
            <a:off x="3337560" y="3318480"/>
            <a:ext cx="2468160" cy="12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2D6A9F"/>
                </a:solidFill>
                <a:effectLst/>
                <a:uFillTx/>
                <a:latin typeface="Calibri"/>
                <a:ea typeface="Calibri"/>
              </a:rPr>
              <a:t>🔗 id_curso FK</a:t>
            </a:r>
            <a:endParaRPr lang="es-E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Shape 41"/>
          <p:cNvSpPr/>
          <p:nvPr/>
        </p:nvSpPr>
        <p:spPr>
          <a:xfrm>
            <a:off x="6108120" y="1691640"/>
            <a:ext cx="2651040" cy="75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CE8"/>
            </a:solidFill>
            <a:round/>
          </a:ln>
          <a:effectLst>
            <a:outerShdw algn="bl" blurRad="50760" dir="8100000" dist="12218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Shape 42"/>
          <p:cNvSpPr/>
          <p:nvPr/>
        </p:nvSpPr>
        <p:spPr>
          <a:xfrm>
            <a:off x="6108120" y="1691640"/>
            <a:ext cx="2651040" cy="246240"/>
          </a:xfrm>
          <a:prstGeom prst="rect">
            <a:avLst/>
          </a:prstGeom>
          <a:solidFill>
            <a:srgbClr val="1C2B4A"/>
          </a:solidFill>
          <a:ln w="12700">
            <a:solidFill>
              <a:srgbClr val="1C2B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0" name="Text 43"/>
          <p:cNvSpPr/>
          <p:nvPr/>
        </p:nvSpPr>
        <p:spPr>
          <a:xfrm>
            <a:off x="6199560" y="1691640"/>
            <a:ext cx="2468160" cy="24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ALUMNOS</a:t>
            </a:r>
            <a:endParaRPr lang="es-E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Text 44"/>
          <p:cNvSpPr/>
          <p:nvPr/>
        </p:nvSpPr>
        <p:spPr>
          <a:xfrm>
            <a:off x="6199560" y="1956960"/>
            <a:ext cx="2468160" cy="14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1C2B4A"/>
                </a:solidFill>
                <a:effectLst/>
                <a:uFillTx/>
                <a:latin typeface="Calibri"/>
                <a:ea typeface="Calibri"/>
              </a:rPr>
              <a:t>🔑 id_alumno  PK  SERIAL</a:t>
            </a:r>
            <a:endParaRPr lang="es-E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Text 45"/>
          <p:cNvSpPr/>
          <p:nvPr/>
        </p:nvSpPr>
        <p:spPr>
          <a:xfrm>
            <a:off x="6199560" y="2123280"/>
            <a:ext cx="2468160" cy="12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4A5568"/>
                </a:solidFill>
                <a:effectLst/>
                <a:uFillTx/>
                <a:latin typeface="Calibri"/>
                <a:ea typeface="Calibri"/>
              </a:rPr>
              <a:t>  nombre VARCHAR</a:t>
            </a:r>
            <a:endParaRPr lang="es-E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Text 46"/>
          <p:cNvSpPr/>
          <p:nvPr/>
        </p:nvSpPr>
        <p:spPr>
          <a:xfrm>
            <a:off x="6199560" y="2253240"/>
            <a:ext cx="2468160" cy="12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4A5568"/>
                </a:solidFill>
                <a:effectLst/>
                <a:uFillTx/>
                <a:latin typeface="Calibri"/>
                <a:ea typeface="Calibri"/>
              </a:rPr>
              <a:t>  email VARCHAR</a:t>
            </a:r>
            <a:endParaRPr lang="es-E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Text 47"/>
          <p:cNvSpPr/>
          <p:nvPr/>
        </p:nvSpPr>
        <p:spPr>
          <a:xfrm>
            <a:off x="6199560" y="2382840"/>
            <a:ext cx="2468160" cy="12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2D6A9F"/>
                </a:solidFill>
                <a:effectLst/>
                <a:uFillTx/>
                <a:latin typeface="Calibri"/>
                <a:ea typeface="Calibri"/>
              </a:rPr>
              <a:t>🔗 id_promocion FK</a:t>
            </a:r>
            <a:endParaRPr lang="es-E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Shape 48"/>
          <p:cNvSpPr/>
          <p:nvPr/>
        </p:nvSpPr>
        <p:spPr>
          <a:xfrm>
            <a:off x="6108120" y="2497320"/>
            <a:ext cx="2651040" cy="62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CE8"/>
            </a:solidFill>
            <a:round/>
          </a:ln>
          <a:effectLst>
            <a:outerShdw algn="bl" blurRad="50760" dir="8100000" dist="12218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Shape 49"/>
          <p:cNvSpPr/>
          <p:nvPr/>
        </p:nvSpPr>
        <p:spPr>
          <a:xfrm>
            <a:off x="6108120" y="2497320"/>
            <a:ext cx="2651040" cy="246240"/>
          </a:xfrm>
          <a:prstGeom prst="rect">
            <a:avLst/>
          </a:prstGeom>
          <a:solidFill>
            <a:srgbClr val="1C2B4A"/>
          </a:solidFill>
          <a:ln w="12700">
            <a:solidFill>
              <a:srgbClr val="1C2B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7" name="Text 50"/>
          <p:cNvSpPr/>
          <p:nvPr/>
        </p:nvSpPr>
        <p:spPr>
          <a:xfrm>
            <a:off x="6199560" y="2497320"/>
            <a:ext cx="2468160" cy="24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PROYECTOS</a:t>
            </a:r>
            <a:endParaRPr lang="es-E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Text 51"/>
          <p:cNvSpPr/>
          <p:nvPr/>
        </p:nvSpPr>
        <p:spPr>
          <a:xfrm>
            <a:off x="6199560" y="2762280"/>
            <a:ext cx="2468160" cy="14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1C2B4A"/>
                </a:solidFill>
                <a:effectLst/>
                <a:uFillTx/>
                <a:latin typeface="Calibri"/>
                <a:ea typeface="Calibri"/>
              </a:rPr>
              <a:t>🔑 id_proyecto  PK  SERIAL</a:t>
            </a:r>
            <a:endParaRPr lang="es-E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Text 52"/>
          <p:cNvSpPr/>
          <p:nvPr/>
        </p:nvSpPr>
        <p:spPr>
          <a:xfrm>
            <a:off x="6199560" y="2928960"/>
            <a:ext cx="2468160" cy="12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4A5568"/>
                </a:solidFill>
                <a:effectLst/>
                <a:uFillTx/>
                <a:latin typeface="Calibri"/>
                <a:ea typeface="Calibri"/>
              </a:rPr>
              <a:t>  nombre VARCHAR</a:t>
            </a:r>
            <a:endParaRPr lang="es-E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Text 53"/>
          <p:cNvSpPr/>
          <p:nvPr/>
        </p:nvSpPr>
        <p:spPr>
          <a:xfrm>
            <a:off x="6199560" y="3058560"/>
            <a:ext cx="2468160" cy="12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2D6A9F"/>
                </a:solidFill>
                <a:effectLst/>
                <a:uFillTx/>
                <a:latin typeface="Calibri"/>
                <a:ea typeface="Calibri"/>
              </a:rPr>
              <a:t>🔗 id_curso FK</a:t>
            </a:r>
            <a:endParaRPr lang="es-E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Shape 54"/>
          <p:cNvSpPr/>
          <p:nvPr/>
        </p:nvSpPr>
        <p:spPr>
          <a:xfrm>
            <a:off x="6108120" y="3173040"/>
            <a:ext cx="2651040" cy="75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CE8"/>
            </a:solidFill>
            <a:round/>
          </a:ln>
          <a:effectLst>
            <a:outerShdw algn="bl" blurRad="50760" dir="8100000" dist="12218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Shape 55"/>
          <p:cNvSpPr/>
          <p:nvPr/>
        </p:nvSpPr>
        <p:spPr>
          <a:xfrm>
            <a:off x="6108120" y="3173040"/>
            <a:ext cx="2651040" cy="246240"/>
          </a:xfrm>
          <a:prstGeom prst="rect">
            <a:avLst/>
          </a:prstGeom>
          <a:solidFill>
            <a:srgbClr val="1C2B4A"/>
          </a:solidFill>
          <a:ln w="12700">
            <a:solidFill>
              <a:srgbClr val="1C2B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3" name="Text 56"/>
          <p:cNvSpPr/>
          <p:nvPr/>
        </p:nvSpPr>
        <p:spPr>
          <a:xfrm>
            <a:off x="6199560" y="3173040"/>
            <a:ext cx="2468160" cy="24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NOTAS</a:t>
            </a:r>
            <a:endParaRPr lang="es-E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Text 57"/>
          <p:cNvSpPr/>
          <p:nvPr/>
        </p:nvSpPr>
        <p:spPr>
          <a:xfrm>
            <a:off x="6199560" y="3438000"/>
            <a:ext cx="2468160" cy="14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1C2B4A"/>
                </a:solidFill>
                <a:effectLst/>
                <a:uFillTx/>
                <a:latin typeface="Calibri"/>
                <a:ea typeface="Calibri"/>
              </a:rPr>
              <a:t>🔑 id_nota  PK  SERIAL</a:t>
            </a:r>
            <a:endParaRPr lang="es-E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Text 58"/>
          <p:cNvSpPr/>
          <p:nvPr/>
        </p:nvSpPr>
        <p:spPr>
          <a:xfrm>
            <a:off x="6199560" y="3604680"/>
            <a:ext cx="2468160" cy="12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2D6A9F"/>
                </a:solidFill>
                <a:effectLst/>
                <a:uFillTx/>
                <a:latin typeface="Calibri"/>
                <a:ea typeface="Calibri"/>
              </a:rPr>
              <a:t>🔗 id_alumno FK</a:t>
            </a:r>
            <a:endParaRPr lang="es-E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Text 59"/>
          <p:cNvSpPr/>
          <p:nvPr/>
        </p:nvSpPr>
        <p:spPr>
          <a:xfrm>
            <a:off x="6199560" y="3734280"/>
            <a:ext cx="2468160" cy="12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2D6A9F"/>
                </a:solidFill>
                <a:effectLst/>
                <a:uFillTx/>
                <a:latin typeface="Calibri"/>
                <a:ea typeface="Calibri"/>
              </a:rPr>
              <a:t>🔗 id_proyecto FK</a:t>
            </a:r>
            <a:endParaRPr lang="es-E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Text 60"/>
          <p:cNvSpPr/>
          <p:nvPr/>
        </p:nvSpPr>
        <p:spPr>
          <a:xfrm>
            <a:off x="6199560" y="3864240"/>
            <a:ext cx="2468160" cy="12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4A5568"/>
                </a:solidFill>
                <a:effectLst/>
                <a:uFillTx/>
                <a:latin typeface="Calibri"/>
                <a:ea typeface="Calibri"/>
              </a:rPr>
              <a:t>  resultado VARCHAR</a:t>
            </a:r>
            <a:endParaRPr lang="es-E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Shape 61"/>
          <p:cNvSpPr/>
          <p:nvPr/>
        </p:nvSpPr>
        <p:spPr>
          <a:xfrm>
            <a:off x="6108120" y="3978720"/>
            <a:ext cx="2651040" cy="62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CE8"/>
            </a:solidFill>
            <a:round/>
          </a:ln>
          <a:effectLst>
            <a:outerShdw algn="bl" blurRad="50760" dir="8100000" dist="12218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Shape 62"/>
          <p:cNvSpPr/>
          <p:nvPr/>
        </p:nvSpPr>
        <p:spPr>
          <a:xfrm>
            <a:off x="6108120" y="3978720"/>
            <a:ext cx="2651040" cy="246240"/>
          </a:xfrm>
          <a:prstGeom prst="rect">
            <a:avLst/>
          </a:prstGeom>
          <a:solidFill>
            <a:srgbClr val="2D6A9F"/>
          </a:solidFill>
          <a:ln w="12700">
            <a:solidFill>
              <a:srgbClr val="2D6A9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0" name="Text 63"/>
          <p:cNvSpPr/>
          <p:nvPr/>
        </p:nvSpPr>
        <p:spPr>
          <a:xfrm>
            <a:off x="6199560" y="3978720"/>
            <a:ext cx="2468160" cy="24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IMPARTE ★</a:t>
            </a:r>
            <a:endParaRPr lang="es-E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Text 64"/>
          <p:cNvSpPr/>
          <p:nvPr/>
        </p:nvSpPr>
        <p:spPr>
          <a:xfrm>
            <a:off x="6199560" y="4243680"/>
            <a:ext cx="2468160" cy="14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1C2B4A"/>
                </a:solidFill>
                <a:effectLst/>
                <a:uFillTx/>
                <a:latin typeface="Calibri"/>
                <a:ea typeface="Calibri"/>
              </a:rPr>
              <a:t>🔑 id_imparte  PK  SERIAL</a:t>
            </a:r>
            <a:endParaRPr lang="es-E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Text 65"/>
          <p:cNvSpPr/>
          <p:nvPr/>
        </p:nvSpPr>
        <p:spPr>
          <a:xfrm>
            <a:off x="6199560" y="4410000"/>
            <a:ext cx="2468160" cy="12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2D6A9F"/>
                </a:solidFill>
                <a:effectLst/>
                <a:uFillTx/>
                <a:latin typeface="Calibri"/>
                <a:ea typeface="Calibri"/>
              </a:rPr>
              <a:t>🔗 id_profesor FK</a:t>
            </a:r>
            <a:endParaRPr lang="es-E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Text 66"/>
          <p:cNvSpPr/>
          <p:nvPr/>
        </p:nvSpPr>
        <p:spPr>
          <a:xfrm>
            <a:off x="6199560" y="4539960"/>
            <a:ext cx="2468160" cy="12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2D6A9F"/>
                </a:solidFill>
                <a:effectLst/>
                <a:uFillTx/>
                <a:latin typeface="Calibri"/>
                <a:ea typeface="Calibri"/>
              </a:rPr>
              <a:t>🔗 id_promocion FK</a:t>
            </a:r>
            <a:endParaRPr lang="es-E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Text 67"/>
          <p:cNvSpPr/>
          <p:nvPr/>
        </p:nvSpPr>
        <p:spPr>
          <a:xfrm>
            <a:off x="384120" y="4883040"/>
            <a:ext cx="841176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i="1" u="none" strike="noStrike">
                <a:solidFill>
                  <a:srgbClr val="8DA9C4"/>
                </a:solidFill>
                <a:effectLst/>
                <a:uFillTx/>
                <a:latin typeface="Calibri"/>
                <a:ea typeface="Calibri"/>
              </a:rPr>
              <a:t>🔑 PK = Clave Primaria    🔗 FK = Clave Foránea    ★ Tabla puente (N:M → SQL)</a:t>
            </a:r>
            <a:endParaRPr lang="es-E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C2B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Shape 0"/>
          <p:cNvSpPr/>
          <p:nvPr/>
        </p:nvSpPr>
        <p:spPr>
          <a:xfrm>
            <a:off x="0" y="0"/>
            <a:ext cx="200520" cy="5142960"/>
          </a:xfrm>
          <a:prstGeom prst="rect">
            <a:avLst/>
          </a:prstGeom>
          <a:solidFill>
            <a:srgbClr val="4EADD4"/>
          </a:solidFill>
          <a:ln w="12700">
            <a:solidFill>
              <a:srgbClr val="4EAD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Text 1"/>
          <p:cNvSpPr/>
          <p:nvPr/>
        </p:nvSpPr>
        <p:spPr>
          <a:xfrm>
            <a:off x="384120" y="255960"/>
            <a:ext cx="457128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pc="201" strike="noStrike">
                <a:solidFill>
                  <a:srgbClr val="8DA9C4"/>
                </a:solidFill>
                <a:effectLst/>
                <a:uFillTx/>
                <a:latin typeface="Calibri"/>
                <a:ea typeface="Calibri"/>
              </a:rPr>
              <a:t>PROYECTO BBDD · BOOTCAMP</a:t>
            </a:r>
            <a:endParaRPr lang="es-E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7" name="Text 2"/>
          <p:cNvSpPr/>
          <p:nvPr/>
        </p:nvSpPr>
        <p:spPr>
          <a:xfrm>
            <a:off x="384120" y="511920"/>
            <a:ext cx="548568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Diagrama de Base de Datos</a:t>
            </a:r>
            <a:endParaRPr lang="es-E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8" name="Text 3"/>
          <p:cNvSpPr/>
          <p:nvPr/>
        </p:nvSpPr>
        <p:spPr>
          <a:xfrm>
            <a:off x="384120" y="1115640"/>
            <a:ext cx="841176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4EADD4"/>
                </a:solidFill>
                <a:effectLst/>
                <a:uFillTx/>
                <a:latin typeface="Calibri"/>
                <a:ea typeface="Calibri"/>
              </a:rPr>
              <a:t>Implementación en PostgreSQL — modelo lógico completo con relaciones y tipos de dato</a:t>
            </a:r>
            <a:endParaRPr lang="es-E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29" name="Image 0" descr="/home/claude/modelo_logico_BBDD.JPG"/>
          <p:cNvPicPr/>
          <p:nvPr/>
        </p:nvPicPr>
        <p:blipFill>
          <a:blip r:embed="rId1"/>
          <a:stretch/>
        </p:blipFill>
        <p:spPr>
          <a:xfrm>
            <a:off x="384120" y="1508760"/>
            <a:ext cx="7355880" cy="34009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LibreOffice/26.2.3.2$Windows_X86_64 LibreOffice_project/70e089b17412e4cb7773e41413306b17a2328c34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2026-05-21T13:35:42Z</dcterms:created>
  <dc:creator>PptxGenJS</dc:creator>
  <dc:description/>
  <dc:language>es-ES</dc:language>
  <cp:lastModifiedBy/>
  <dcterms:modified xsi:type="dcterms:W3CDTF">2026-05-21T16:02:20Z</dcterms:modified>
  <cp:revision>3</cp:revision>
  <dc:subject>PptxGenJS Presentation</dc:subject>
  <dc:title>Proyecto BBDD - Bootcamp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3</vt:i4>
  </property>
  <property fmtid="{D5CDD505-2E9C-101B-9397-08002B2CF9AE}" pid="3" name="PresentationFormat">
    <vt:lpwstr>On-screen Show (16:9)</vt:lpwstr>
  </property>
  <property fmtid="{D5CDD505-2E9C-101B-9397-08002B2CF9AE}" pid="4" name="Slides">
    <vt:i4>3</vt:i4>
  </property>
</Properties>
</file>