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es-E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desplazar la diapositiva</a:t>
            </a: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las notas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ADC874CF-728E-4893-831D-08ECA7F8F6CD}" type="slidenum"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F9E4796-99C7-43E9-83A3-FE1137FE3C9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EBCBE5D-1811-4503-B1F1-41821FC4DF5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044A9BA-6097-4C3E-A838-BE7064DB9A9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5C9FCE7-1445-4E27-B977-56FEAD8A4B0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9C079E4-2631-4499-B78F-C7DC696513B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s-E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s-E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del texto de título</a:t>
            </a: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s-E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s-E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s-E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E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E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E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E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E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E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E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E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E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D6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32"/>
          <p:cNvSpPr/>
          <p:nvPr/>
        </p:nvSpPr>
        <p:spPr>
          <a:xfrm>
            <a:off x="6858000" y="3200400"/>
            <a:ext cx="3200040" cy="3200040"/>
          </a:xfrm>
          <a:prstGeom prst="ellipse">
            <a:avLst/>
          </a:prstGeom>
          <a:solidFill>
            <a:srgbClr val="7BBCE8">
              <a:alpha val="30000"/>
            </a:srgbClr>
          </a:solidFill>
          <a:ln w="12700">
            <a:solidFill>
              <a:srgbClr val="7BBCE8">
                <a:alpha val="3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33"/>
          <p:cNvSpPr/>
          <p:nvPr/>
        </p:nvSpPr>
        <p:spPr>
          <a:xfrm>
            <a:off x="7772400" y="-457200"/>
            <a:ext cx="2285640" cy="2285640"/>
          </a:xfrm>
          <a:prstGeom prst="ellipse">
            <a:avLst/>
          </a:prstGeom>
          <a:solidFill>
            <a:srgbClr val="4A90D9">
              <a:alpha val="25000"/>
            </a:srgbClr>
          </a:solidFill>
          <a:ln w="12700">
            <a:solidFill>
              <a:srgbClr val="4A90D9">
                <a:alpha val="2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1371960" y="720360"/>
            <a:ext cx="6400440" cy="3474360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B8D8F5"/>
            </a:solidFill>
            <a:round/>
          </a:ln>
          <a:effectLst>
            <a:outerShdw algn="bl" blurRad="127080" dir="8100000" dist="37674" kx="0" ky="0" rotWithShape="0" sx="100000" sy="100000">
              <a:srgbClr val="4A90D9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10"/>
          <p:cNvSpPr/>
          <p:nvPr/>
        </p:nvSpPr>
        <p:spPr>
          <a:xfrm rot="21597600">
            <a:off x="1371960" y="825120"/>
            <a:ext cx="6400440" cy="36540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1"/>
          <p:cNvSpPr/>
          <p:nvPr/>
        </p:nvSpPr>
        <p:spPr>
          <a:xfrm>
            <a:off x="1371960" y="1620000"/>
            <a:ext cx="64004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1E4A7A"/>
                </a:solidFill>
                <a:effectLst/>
                <a:uFillTx/>
                <a:latin typeface="Calibri"/>
                <a:ea typeface="Calibri"/>
              </a:rPr>
              <a:t>PROYECTO DE BASES DE DATOS RELACIONALES</a:t>
            </a:r>
            <a:endParaRPr lang="es-E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Shape 14"/>
          <p:cNvSpPr/>
          <p:nvPr/>
        </p:nvSpPr>
        <p:spPr>
          <a:xfrm>
            <a:off x="1829160" y="3200760"/>
            <a:ext cx="1206720" cy="255600"/>
          </a:xfrm>
          <a:prstGeom prst="roundRect">
            <a:avLst>
              <a:gd name="adj" fmla="val 50000"/>
            </a:avLst>
          </a:prstGeom>
          <a:solidFill>
            <a:srgbClr val="D6E9FA"/>
          </a:solidFill>
          <a:ln w="12700">
            <a:solidFill>
              <a:srgbClr val="D6E9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3"/>
          <p:cNvSpPr/>
          <p:nvPr/>
        </p:nvSpPr>
        <p:spPr>
          <a:xfrm>
            <a:off x="1829160" y="3209760"/>
            <a:ext cx="12067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E4A7A"/>
                </a:solidFill>
                <a:effectLst/>
                <a:uFillTx/>
                <a:latin typeface="Calibri"/>
              </a:rPr>
              <a:t>Ainara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3219120" y="3200760"/>
            <a:ext cx="1206720" cy="255600"/>
          </a:xfrm>
          <a:prstGeom prst="roundRect">
            <a:avLst>
              <a:gd name="adj" fmla="val 50000"/>
            </a:avLst>
          </a:prstGeom>
          <a:solidFill>
            <a:srgbClr val="D6E9FA"/>
          </a:solidFill>
          <a:ln w="12700">
            <a:solidFill>
              <a:srgbClr val="D6E9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6"/>
          <p:cNvSpPr/>
          <p:nvPr/>
        </p:nvSpPr>
        <p:spPr>
          <a:xfrm>
            <a:off x="3219120" y="3209760"/>
            <a:ext cx="12067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E4A7A"/>
                </a:solidFill>
                <a:effectLst/>
                <a:uFillTx/>
                <a:latin typeface="Calibri"/>
              </a:rPr>
              <a:t>Estibaliz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Shape 20"/>
          <p:cNvSpPr/>
          <p:nvPr/>
        </p:nvSpPr>
        <p:spPr>
          <a:xfrm>
            <a:off x="4609080" y="3200760"/>
            <a:ext cx="1206720" cy="255600"/>
          </a:xfrm>
          <a:prstGeom prst="roundRect">
            <a:avLst>
              <a:gd name="adj" fmla="val 50000"/>
            </a:avLst>
          </a:prstGeom>
          <a:solidFill>
            <a:srgbClr val="D6E9FA"/>
          </a:solidFill>
          <a:ln w="12700">
            <a:solidFill>
              <a:srgbClr val="D6E9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1"/>
          <p:cNvSpPr/>
          <p:nvPr/>
        </p:nvSpPr>
        <p:spPr>
          <a:xfrm>
            <a:off x="4609080" y="3209760"/>
            <a:ext cx="12067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E4A7A"/>
                </a:solidFill>
                <a:effectLst/>
                <a:uFillTx/>
                <a:latin typeface="Calibri"/>
              </a:rPr>
              <a:t>Iqra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5998680" y="3200760"/>
            <a:ext cx="1206720" cy="255600"/>
          </a:xfrm>
          <a:prstGeom prst="roundRect">
            <a:avLst>
              <a:gd name="adj" fmla="val 50000"/>
            </a:avLst>
          </a:prstGeom>
          <a:solidFill>
            <a:srgbClr val="D6E9FA"/>
          </a:solidFill>
          <a:ln w="12700">
            <a:solidFill>
              <a:srgbClr val="D6E9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12"/>
          <p:cNvSpPr/>
          <p:nvPr/>
        </p:nvSpPr>
        <p:spPr>
          <a:xfrm>
            <a:off x="5998680" y="3209760"/>
            <a:ext cx="12067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E4A7A"/>
                </a:solidFill>
                <a:effectLst/>
                <a:uFillTx/>
                <a:latin typeface="Calibri"/>
              </a:rPr>
              <a:t>Roberto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2"/>
          <p:cNvSpPr/>
          <p:nvPr/>
        </p:nvSpPr>
        <p:spPr>
          <a:xfrm>
            <a:off x="3169440" y="105120"/>
            <a:ext cx="24109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pc="201" strike="noStrike">
                <a:solidFill>
                  <a:srgbClr val="2A6099"/>
                </a:solidFill>
                <a:effectLst/>
                <a:uFillTx/>
                <a:latin typeface="Calibri"/>
                <a:ea typeface="Calibri"/>
              </a:rPr>
              <a:t>PROYECTO BBDD RELACIONALES</a:t>
            </a:r>
            <a:endParaRPr lang="es-ES" sz="900" b="0" u="none" strike="noStrike">
              <a:solidFill>
                <a:srgbClr val="2A6099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D6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4"/>
          <p:cNvSpPr/>
          <p:nvPr/>
        </p:nvSpPr>
        <p:spPr>
          <a:xfrm>
            <a:off x="6858000" y="3200400"/>
            <a:ext cx="3200040" cy="3200040"/>
          </a:xfrm>
          <a:prstGeom prst="ellipse">
            <a:avLst/>
          </a:prstGeom>
          <a:solidFill>
            <a:srgbClr val="7BBCE8">
              <a:alpha val="30000"/>
            </a:srgbClr>
          </a:solidFill>
          <a:ln w="12700">
            <a:solidFill>
              <a:srgbClr val="7BBCE8">
                <a:alpha val="3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Shape 5"/>
          <p:cNvSpPr/>
          <p:nvPr/>
        </p:nvSpPr>
        <p:spPr>
          <a:xfrm>
            <a:off x="7772400" y="-457200"/>
            <a:ext cx="2285640" cy="2285640"/>
          </a:xfrm>
          <a:prstGeom prst="ellipse">
            <a:avLst/>
          </a:prstGeom>
          <a:solidFill>
            <a:srgbClr val="4A90D9">
              <a:alpha val="25000"/>
            </a:srgbClr>
          </a:solidFill>
          <a:ln w="12700">
            <a:solidFill>
              <a:srgbClr val="4A90D9">
                <a:alpha val="2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7"/>
          <p:cNvSpPr/>
          <p:nvPr/>
        </p:nvSpPr>
        <p:spPr>
          <a:xfrm>
            <a:off x="3169080" y="105120"/>
            <a:ext cx="24109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pc="201" strike="noStrike">
                <a:solidFill>
                  <a:srgbClr val="2A6099"/>
                </a:solidFill>
                <a:effectLst/>
                <a:uFillTx/>
                <a:latin typeface="Calibri"/>
                <a:ea typeface="Calibri"/>
              </a:rPr>
              <a:t>PROYECTO BBDD RELACIONALES</a:t>
            </a:r>
            <a:endParaRPr lang="es-ES" sz="900" b="0" u="none" strike="noStrike">
              <a:solidFill>
                <a:srgbClr val="2A6099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8"/>
          <p:cNvSpPr/>
          <p:nvPr/>
        </p:nvSpPr>
        <p:spPr>
          <a:xfrm>
            <a:off x="1909080" y="535320"/>
            <a:ext cx="5290920" cy="44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Modelo Entidad–Relación</a:t>
            </a:r>
            <a:endParaRPr lang="es-E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" name="Imagen 2"/>
          <p:cNvPicPr/>
          <p:nvPr/>
        </p:nvPicPr>
        <p:blipFill>
          <a:blip r:embed="rId1"/>
          <a:stretch/>
        </p:blipFill>
        <p:spPr>
          <a:xfrm>
            <a:off x="2072880" y="1096560"/>
            <a:ext cx="4998600" cy="3846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D6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Shape 11"/>
          <p:cNvSpPr/>
          <p:nvPr/>
        </p:nvSpPr>
        <p:spPr>
          <a:xfrm>
            <a:off x="6858000" y="3200400"/>
            <a:ext cx="3200040" cy="3200040"/>
          </a:xfrm>
          <a:prstGeom prst="ellipse">
            <a:avLst/>
          </a:prstGeom>
          <a:solidFill>
            <a:srgbClr val="7BBCE8">
              <a:alpha val="30000"/>
            </a:srgbClr>
          </a:solidFill>
          <a:ln w="12700">
            <a:solidFill>
              <a:srgbClr val="7BBCE8">
                <a:alpha val="3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12"/>
          <p:cNvSpPr/>
          <p:nvPr/>
        </p:nvSpPr>
        <p:spPr>
          <a:xfrm>
            <a:off x="7772400" y="-457200"/>
            <a:ext cx="2285640" cy="2285640"/>
          </a:xfrm>
          <a:prstGeom prst="ellipse">
            <a:avLst/>
          </a:prstGeom>
          <a:solidFill>
            <a:srgbClr val="4A90D9">
              <a:alpha val="25000"/>
            </a:srgbClr>
          </a:solidFill>
          <a:ln w="12700">
            <a:solidFill>
              <a:srgbClr val="4A90D9">
                <a:alpha val="2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13"/>
          <p:cNvSpPr/>
          <p:nvPr/>
        </p:nvSpPr>
        <p:spPr>
          <a:xfrm>
            <a:off x="3218760" y="3200400"/>
            <a:ext cx="1206720" cy="255600"/>
          </a:xfrm>
          <a:prstGeom prst="roundRect">
            <a:avLst>
              <a:gd name="adj" fmla="val 50000"/>
            </a:avLst>
          </a:prstGeom>
          <a:solidFill>
            <a:srgbClr val="D6E9FA"/>
          </a:solidFill>
          <a:ln w="12700">
            <a:solidFill>
              <a:srgbClr val="D6E9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25"/>
          <p:cNvSpPr/>
          <p:nvPr/>
        </p:nvSpPr>
        <p:spPr>
          <a:xfrm>
            <a:off x="4608720" y="3200400"/>
            <a:ext cx="1206720" cy="255600"/>
          </a:xfrm>
          <a:prstGeom prst="roundRect">
            <a:avLst>
              <a:gd name="adj" fmla="val 50000"/>
            </a:avLst>
          </a:prstGeom>
          <a:solidFill>
            <a:srgbClr val="D6E9FA"/>
          </a:solidFill>
          <a:ln w="12700">
            <a:solidFill>
              <a:srgbClr val="D6E9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28"/>
          <p:cNvSpPr/>
          <p:nvPr/>
        </p:nvSpPr>
        <p:spPr>
          <a:xfrm>
            <a:off x="5998320" y="3200400"/>
            <a:ext cx="1206720" cy="255600"/>
          </a:xfrm>
          <a:prstGeom prst="roundRect">
            <a:avLst>
              <a:gd name="adj" fmla="val 50000"/>
            </a:avLst>
          </a:prstGeom>
          <a:solidFill>
            <a:srgbClr val="D6E9FA"/>
          </a:solidFill>
          <a:ln w="12700">
            <a:solidFill>
              <a:srgbClr val="D6E9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27"/>
          <p:cNvSpPr/>
          <p:nvPr/>
        </p:nvSpPr>
        <p:spPr>
          <a:xfrm>
            <a:off x="384480" y="1092600"/>
            <a:ext cx="8411400" cy="43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Convierte el modelo E/R en algo implementable en SQL: tablas con columnas, claves primarias (PK) y foráneas (FK). Las relaciones N:M se sustituyen por una tabla puente.</a:t>
            </a:r>
            <a:endParaRPr lang="es-E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6"/>
          <p:cNvSpPr/>
          <p:nvPr/>
        </p:nvSpPr>
        <p:spPr>
          <a:xfrm>
            <a:off x="384480" y="1632240"/>
            <a:ext cx="2650680" cy="61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8"/>
            </a:solidFill>
            <a:round/>
          </a:ln>
          <a:effectLst>
            <a:outerShdw algn="bl" blurRad="50760" dir="8100000" dist="12218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29"/>
          <p:cNvSpPr/>
          <p:nvPr/>
        </p:nvSpPr>
        <p:spPr>
          <a:xfrm>
            <a:off x="384480" y="1632240"/>
            <a:ext cx="2650680" cy="24588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32"/>
          <p:cNvSpPr/>
          <p:nvPr/>
        </p:nvSpPr>
        <p:spPr>
          <a:xfrm>
            <a:off x="475920" y="1632240"/>
            <a:ext cx="2467800" cy="24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SEDES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33"/>
          <p:cNvSpPr/>
          <p:nvPr/>
        </p:nvSpPr>
        <p:spPr>
          <a:xfrm>
            <a:off x="475920" y="1897560"/>
            <a:ext cx="2467800" cy="14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1C2B4A"/>
                </a:solidFill>
                <a:effectLst/>
                <a:uFillTx/>
                <a:latin typeface="Calibri"/>
                <a:ea typeface="Calibri"/>
              </a:rPr>
              <a:t>🔑 id_sede  </a:t>
            </a:r>
            <a:r>
              <a:rPr lang="en-US" sz="850" b="0" u="none" strike="noStrike">
                <a:solidFill>
                  <a:srgbClr val="1C2B4A"/>
                </a:solidFill>
                <a:effectLst/>
                <a:uFillTx/>
                <a:latin typeface="Calibri"/>
                <a:ea typeface="Calibri"/>
              </a:rPr>
              <a:t>	</a:t>
            </a:r>
            <a:r>
              <a:rPr lang="en-US" sz="850" b="0" u="none" strike="noStrike">
                <a:solidFill>
                  <a:srgbClr val="1C2B4A"/>
                </a:solidFill>
                <a:effectLst/>
                <a:uFillTx/>
                <a:latin typeface="Calibri"/>
                <a:ea typeface="Calibri"/>
              </a:rPr>
              <a:t>	</a:t>
            </a:r>
            <a:r>
              <a:rPr lang="en-US" sz="850" b="0" u="none" strike="noStrike">
                <a:solidFill>
                  <a:srgbClr val="1C2B4A"/>
                </a:solidFill>
                <a:effectLst/>
                <a:uFillTx/>
                <a:latin typeface="Calibri"/>
                <a:ea typeface="Calibri"/>
              </a:rPr>
              <a:t>PK  SERIAL</a:t>
            </a:r>
            <a:endParaRPr lang="es-E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41"/>
          <p:cNvSpPr/>
          <p:nvPr/>
        </p:nvSpPr>
        <p:spPr>
          <a:xfrm>
            <a:off x="475920" y="2063880"/>
            <a:ext cx="2467800" cy="12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       nombre                                                          VARCHAR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35"/>
          <p:cNvSpPr/>
          <p:nvPr/>
        </p:nvSpPr>
        <p:spPr>
          <a:xfrm>
            <a:off x="384480" y="2327040"/>
            <a:ext cx="2650680" cy="623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8"/>
            </a:solidFill>
            <a:round/>
          </a:ln>
          <a:effectLst>
            <a:outerShdw algn="bl" blurRad="50760" dir="8100000" dist="12218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Shape 36"/>
          <p:cNvSpPr/>
          <p:nvPr/>
        </p:nvSpPr>
        <p:spPr>
          <a:xfrm>
            <a:off x="384480" y="2327040"/>
            <a:ext cx="2650680" cy="24588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42"/>
          <p:cNvSpPr/>
          <p:nvPr/>
        </p:nvSpPr>
        <p:spPr>
          <a:xfrm>
            <a:off x="475920" y="2327040"/>
            <a:ext cx="2467800" cy="24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MODALIDADES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48"/>
          <p:cNvSpPr/>
          <p:nvPr/>
        </p:nvSpPr>
        <p:spPr>
          <a:xfrm>
            <a:off x="475920" y="2592360"/>
            <a:ext cx="2467800" cy="14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1C2B4A"/>
                </a:solidFill>
                <a:effectLst/>
                <a:uFillTx/>
                <a:latin typeface="Calibri"/>
                <a:ea typeface="Calibri"/>
              </a:rPr>
              <a:t>🔑 id_modalidad                                           PK  SERIAL</a:t>
            </a:r>
            <a:endParaRPr lang="es-E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49"/>
          <p:cNvSpPr/>
          <p:nvPr/>
        </p:nvSpPr>
        <p:spPr>
          <a:xfrm>
            <a:off x="475920" y="2758680"/>
            <a:ext cx="2467800" cy="12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       nombre                                                          VARCHAR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37"/>
          <p:cNvSpPr/>
          <p:nvPr/>
        </p:nvSpPr>
        <p:spPr>
          <a:xfrm>
            <a:off x="384480" y="3033720"/>
            <a:ext cx="2650680" cy="78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8"/>
            </a:solidFill>
            <a:round/>
          </a:ln>
          <a:effectLst>
            <a:outerShdw algn="bl" blurRad="50760" dir="8100000" dist="12218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38"/>
          <p:cNvSpPr/>
          <p:nvPr/>
        </p:nvSpPr>
        <p:spPr>
          <a:xfrm>
            <a:off x="384480" y="3033720"/>
            <a:ext cx="2650680" cy="24588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54"/>
          <p:cNvSpPr/>
          <p:nvPr/>
        </p:nvSpPr>
        <p:spPr>
          <a:xfrm>
            <a:off x="475920" y="3033720"/>
            <a:ext cx="2467800" cy="24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ROLES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55"/>
          <p:cNvSpPr/>
          <p:nvPr/>
        </p:nvSpPr>
        <p:spPr>
          <a:xfrm>
            <a:off x="475920" y="3298680"/>
            <a:ext cx="2467800" cy="14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1C2B4A"/>
                </a:solidFill>
                <a:effectLst/>
                <a:uFillTx/>
                <a:latin typeface="Calibri"/>
                <a:ea typeface="Calibri"/>
              </a:rPr>
              <a:t>🔑 id_rol                                                         PK  SERIAL</a:t>
            </a:r>
            <a:endParaRPr lang="es-E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61"/>
          <p:cNvSpPr/>
          <p:nvPr/>
        </p:nvSpPr>
        <p:spPr>
          <a:xfrm>
            <a:off x="475920" y="3465360"/>
            <a:ext cx="2467800" cy="12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  codigo                                                                 VARCHAR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62"/>
          <p:cNvSpPr/>
          <p:nvPr/>
        </p:nvSpPr>
        <p:spPr>
          <a:xfrm>
            <a:off x="475920" y="3594960"/>
            <a:ext cx="2467800" cy="12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  nombre                                                               VARCHAR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Shape 39"/>
          <p:cNvSpPr/>
          <p:nvPr/>
        </p:nvSpPr>
        <p:spPr>
          <a:xfrm>
            <a:off x="384480" y="3904920"/>
            <a:ext cx="2650680" cy="7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8"/>
            </a:solidFill>
            <a:round/>
          </a:ln>
          <a:effectLst>
            <a:outerShdw algn="bl" blurRad="50760" dir="8100000" dist="12218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40"/>
          <p:cNvSpPr/>
          <p:nvPr/>
        </p:nvSpPr>
        <p:spPr>
          <a:xfrm>
            <a:off x="384480" y="3904920"/>
            <a:ext cx="2650680" cy="24588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68"/>
          <p:cNvSpPr/>
          <p:nvPr/>
        </p:nvSpPr>
        <p:spPr>
          <a:xfrm>
            <a:off x="475920" y="3904920"/>
            <a:ext cx="2467800" cy="24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CURSOS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69"/>
          <p:cNvSpPr/>
          <p:nvPr/>
        </p:nvSpPr>
        <p:spPr>
          <a:xfrm>
            <a:off x="475920" y="4169880"/>
            <a:ext cx="2467800" cy="14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1C2B4A"/>
                </a:solidFill>
                <a:effectLst/>
                <a:uFillTx/>
                <a:latin typeface="Calibri"/>
                <a:ea typeface="Calibri"/>
              </a:rPr>
              <a:t>🔑 id_curso                                                   PK  SERIAL</a:t>
            </a:r>
            <a:endParaRPr lang="es-E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70"/>
          <p:cNvSpPr/>
          <p:nvPr/>
        </p:nvSpPr>
        <p:spPr>
          <a:xfrm>
            <a:off x="475920" y="4336560"/>
            <a:ext cx="2467800" cy="12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        codigo                                                          VARCHAR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71"/>
          <p:cNvSpPr/>
          <p:nvPr/>
        </p:nvSpPr>
        <p:spPr>
          <a:xfrm>
            <a:off x="475920" y="4466160"/>
            <a:ext cx="2467800" cy="12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        nombre                                                        VARCHAR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Shape 43"/>
          <p:cNvSpPr/>
          <p:nvPr/>
        </p:nvSpPr>
        <p:spPr>
          <a:xfrm>
            <a:off x="3246480" y="1632240"/>
            <a:ext cx="2650680" cy="754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8"/>
            </a:solidFill>
            <a:round/>
          </a:ln>
          <a:effectLst>
            <a:outerShdw algn="bl" blurRad="50760" dir="8100000" dist="12218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44"/>
          <p:cNvSpPr/>
          <p:nvPr/>
        </p:nvSpPr>
        <p:spPr>
          <a:xfrm>
            <a:off x="3246480" y="1632240"/>
            <a:ext cx="2650680" cy="24588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72"/>
          <p:cNvSpPr/>
          <p:nvPr/>
        </p:nvSpPr>
        <p:spPr>
          <a:xfrm>
            <a:off x="3337920" y="1632240"/>
            <a:ext cx="2467800" cy="24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PROFESORES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73"/>
          <p:cNvSpPr/>
          <p:nvPr/>
        </p:nvSpPr>
        <p:spPr>
          <a:xfrm>
            <a:off x="3337920" y="1897560"/>
            <a:ext cx="2467800" cy="14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1C2B4A"/>
                </a:solidFill>
                <a:effectLst/>
                <a:uFillTx/>
                <a:latin typeface="Calibri"/>
                <a:ea typeface="Calibri"/>
              </a:rPr>
              <a:t>🔑 id_profesor                                              PK  SERIAL</a:t>
            </a:r>
            <a:endParaRPr lang="es-E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74"/>
          <p:cNvSpPr/>
          <p:nvPr/>
        </p:nvSpPr>
        <p:spPr>
          <a:xfrm>
            <a:off x="3337920" y="2063880"/>
            <a:ext cx="2467800" cy="12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        nombre                                                        VARCHAR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75"/>
          <p:cNvSpPr/>
          <p:nvPr/>
        </p:nvSpPr>
        <p:spPr>
          <a:xfrm>
            <a:off x="3337920" y="2193840"/>
            <a:ext cx="2467800" cy="12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2D6A9F"/>
                </a:solidFill>
                <a:effectLst/>
                <a:uFillTx/>
                <a:latin typeface="Calibri"/>
                <a:ea typeface="Calibri"/>
              </a:rPr>
              <a:t>🔗 id_rol                                                             FK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45"/>
          <p:cNvSpPr/>
          <p:nvPr/>
        </p:nvSpPr>
        <p:spPr>
          <a:xfrm>
            <a:off x="3246480" y="2539800"/>
            <a:ext cx="2650680" cy="117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8"/>
            </a:solidFill>
            <a:round/>
          </a:ln>
          <a:effectLst>
            <a:outerShdw algn="bl" blurRad="50760" dir="8100000" dist="12218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46"/>
          <p:cNvSpPr/>
          <p:nvPr/>
        </p:nvSpPr>
        <p:spPr>
          <a:xfrm>
            <a:off x="3246480" y="2539800"/>
            <a:ext cx="2650680" cy="24588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76"/>
          <p:cNvSpPr/>
          <p:nvPr/>
        </p:nvSpPr>
        <p:spPr>
          <a:xfrm>
            <a:off x="3337920" y="2539800"/>
            <a:ext cx="2467800" cy="24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PROMOCIONES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77"/>
          <p:cNvSpPr/>
          <p:nvPr/>
        </p:nvSpPr>
        <p:spPr>
          <a:xfrm>
            <a:off x="3337920" y="2805120"/>
            <a:ext cx="2467800" cy="14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1C2B4A"/>
                </a:solidFill>
                <a:effectLst/>
                <a:uFillTx/>
                <a:latin typeface="Calibri"/>
                <a:ea typeface="Calibri"/>
              </a:rPr>
              <a:t>🔑 id_promocion                                          PK  SERIAL</a:t>
            </a:r>
            <a:endParaRPr lang="es-E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78"/>
          <p:cNvSpPr/>
          <p:nvPr/>
        </p:nvSpPr>
        <p:spPr>
          <a:xfrm>
            <a:off x="3337920" y="2971440"/>
            <a:ext cx="2467800" cy="12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       nombre                                                         VARCHAR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79"/>
          <p:cNvSpPr/>
          <p:nvPr/>
        </p:nvSpPr>
        <p:spPr>
          <a:xfrm>
            <a:off x="3337920" y="3101400"/>
            <a:ext cx="2467800" cy="12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       Fecha_comienzo                                         DATE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80"/>
          <p:cNvSpPr/>
          <p:nvPr/>
        </p:nvSpPr>
        <p:spPr>
          <a:xfrm>
            <a:off x="3337920" y="3231000"/>
            <a:ext cx="2467800" cy="12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2D6A9F"/>
                </a:solidFill>
                <a:effectLst/>
                <a:uFillTx/>
                <a:latin typeface="Calibri"/>
                <a:ea typeface="Calibri"/>
              </a:rPr>
              <a:t>🔗 id_sede                                                         FK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81"/>
          <p:cNvSpPr/>
          <p:nvPr/>
        </p:nvSpPr>
        <p:spPr>
          <a:xfrm>
            <a:off x="3337920" y="3360960"/>
            <a:ext cx="2467800" cy="12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2D6A9F"/>
                </a:solidFill>
                <a:effectLst/>
                <a:uFillTx/>
                <a:latin typeface="Calibri"/>
                <a:ea typeface="Calibri"/>
              </a:rPr>
              <a:t>🔗 id_modalidad                                              FK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82"/>
          <p:cNvSpPr/>
          <p:nvPr/>
        </p:nvSpPr>
        <p:spPr>
          <a:xfrm>
            <a:off x="3337920" y="3490920"/>
            <a:ext cx="2467800" cy="12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2D6A9F"/>
                </a:solidFill>
                <a:effectLst/>
                <a:uFillTx/>
                <a:latin typeface="Calibri"/>
                <a:ea typeface="Calibri"/>
              </a:rPr>
              <a:t>🔗 id_curso                                                       FK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47"/>
          <p:cNvSpPr/>
          <p:nvPr/>
        </p:nvSpPr>
        <p:spPr>
          <a:xfrm>
            <a:off x="3246480" y="3900960"/>
            <a:ext cx="2650680" cy="87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8"/>
            </a:solidFill>
            <a:round/>
          </a:ln>
          <a:effectLst>
            <a:outerShdw algn="bl" blurRad="50760" dir="8100000" dist="12218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50"/>
          <p:cNvSpPr/>
          <p:nvPr/>
        </p:nvSpPr>
        <p:spPr>
          <a:xfrm>
            <a:off x="3246480" y="3900960"/>
            <a:ext cx="2650680" cy="24588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83"/>
          <p:cNvSpPr/>
          <p:nvPr/>
        </p:nvSpPr>
        <p:spPr>
          <a:xfrm>
            <a:off x="3337920" y="3900960"/>
            <a:ext cx="2467800" cy="24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ALUMNOS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84"/>
          <p:cNvSpPr/>
          <p:nvPr/>
        </p:nvSpPr>
        <p:spPr>
          <a:xfrm>
            <a:off x="3337920" y="4166280"/>
            <a:ext cx="2467800" cy="14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1C2B4A"/>
                </a:solidFill>
                <a:effectLst/>
                <a:uFillTx/>
                <a:latin typeface="Calibri"/>
                <a:ea typeface="Calibri"/>
              </a:rPr>
              <a:t>🔑 id_alumno                                                PK  SERIAL</a:t>
            </a:r>
            <a:endParaRPr lang="es-E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85"/>
          <p:cNvSpPr/>
          <p:nvPr/>
        </p:nvSpPr>
        <p:spPr>
          <a:xfrm>
            <a:off x="3337920" y="4332600"/>
            <a:ext cx="2467800" cy="12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       nombre                                                         VARCHAR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86"/>
          <p:cNvSpPr/>
          <p:nvPr/>
        </p:nvSpPr>
        <p:spPr>
          <a:xfrm>
            <a:off x="3337920" y="4462560"/>
            <a:ext cx="2467800" cy="12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       email                                                             VARCHAR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87"/>
          <p:cNvSpPr/>
          <p:nvPr/>
        </p:nvSpPr>
        <p:spPr>
          <a:xfrm>
            <a:off x="3337920" y="4592160"/>
            <a:ext cx="2467800" cy="12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2D6A9F"/>
                </a:solidFill>
                <a:effectLst/>
                <a:uFillTx/>
                <a:latin typeface="Calibri"/>
                <a:ea typeface="Calibri"/>
              </a:rPr>
              <a:t>🔗 id_promocion                                              FK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Shape 51"/>
          <p:cNvSpPr/>
          <p:nvPr/>
        </p:nvSpPr>
        <p:spPr>
          <a:xfrm>
            <a:off x="6108480" y="1632600"/>
            <a:ext cx="2650680" cy="753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8"/>
            </a:solidFill>
            <a:round/>
          </a:ln>
          <a:effectLst>
            <a:outerShdw algn="bl" blurRad="50760" dir="8100000" dist="12218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52"/>
          <p:cNvSpPr/>
          <p:nvPr/>
        </p:nvSpPr>
        <p:spPr>
          <a:xfrm>
            <a:off x="6108480" y="1632600"/>
            <a:ext cx="2650680" cy="24588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88"/>
          <p:cNvSpPr/>
          <p:nvPr/>
        </p:nvSpPr>
        <p:spPr>
          <a:xfrm>
            <a:off x="6199920" y="1632600"/>
            <a:ext cx="2467800" cy="24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PROYECTOS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89"/>
          <p:cNvSpPr/>
          <p:nvPr/>
        </p:nvSpPr>
        <p:spPr>
          <a:xfrm>
            <a:off x="6199920" y="1897560"/>
            <a:ext cx="2467800" cy="14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1C2B4A"/>
                </a:solidFill>
                <a:effectLst/>
                <a:uFillTx/>
                <a:latin typeface="Calibri"/>
                <a:ea typeface="Calibri"/>
              </a:rPr>
              <a:t>🔑 id_proyecto                                             PK  SERIAL</a:t>
            </a:r>
            <a:endParaRPr lang="es-E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90"/>
          <p:cNvSpPr/>
          <p:nvPr/>
        </p:nvSpPr>
        <p:spPr>
          <a:xfrm>
            <a:off x="6199920" y="2064240"/>
            <a:ext cx="2467800" cy="12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        nombre                                                        VARCHAR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91"/>
          <p:cNvSpPr/>
          <p:nvPr/>
        </p:nvSpPr>
        <p:spPr>
          <a:xfrm>
            <a:off x="6199920" y="2193840"/>
            <a:ext cx="2467800" cy="12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2D6A9F"/>
                </a:solidFill>
                <a:effectLst/>
                <a:uFillTx/>
                <a:latin typeface="Calibri"/>
                <a:ea typeface="Calibri"/>
              </a:rPr>
              <a:t>🔗 id_curso                                                        FK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Shape 53"/>
          <p:cNvSpPr/>
          <p:nvPr/>
        </p:nvSpPr>
        <p:spPr>
          <a:xfrm>
            <a:off x="6108480" y="2543040"/>
            <a:ext cx="2650680" cy="891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8"/>
            </a:solidFill>
            <a:round/>
          </a:ln>
          <a:effectLst>
            <a:outerShdw algn="bl" blurRad="50760" dir="8100000" dist="12218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56"/>
          <p:cNvSpPr/>
          <p:nvPr/>
        </p:nvSpPr>
        <p:spPr>
          <a:xfrm>
            <a:off x="6108480" y="2543040"/>
            <a:ext cx="2650680" cy="24588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92"/>
          <p:cNvSpPr/>
          <p:nvPr/>
        </p:nvSpPr>
        <p:spPr>
          <a:xfrm>
            <a:off x="6199920" y="2543040"/>
            <a:ext cx="2467800" cy="24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NOTAS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93"/>
          <p:cNvSpPr/>
          <p:nvPr/>
        </p:nvSpPr>
        <p:spPr>
          <a:xfrm>
            <a:off x="6199920" y="2808000"/>
            <a:ext cx="2467800" cy="14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1C2B4A"/>
                </a:solidFill>
                <a:effectLst/>
                <a:uFillTx/>
                <a:latin typeface="Calibri"/>
                <a:ea typeface="Calibri"/>
              </a:rPr>
              <a:t>🔑 id_nota                                                      PK  SERIAL</a:t>
            </a:r>
            <a:endParaRPr lang="es-E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94"/>
          <p:cNvSpPr/>
          <p:nvPr/>
        </p:nvSpPr>
        <p:spPr>
          <a:xfrm>
            <a:off x="6199920" y="2974680"/>
            <a:ext cx="2467800" cy="12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2D6A9F"/>
                </a:solidFill>
                <a:effectLst/>
                <a:uFillTx/>
                <a:latin typeface="Calibri"/>
                <a:ea typeface="Calibri"/>
              </a:rPr>
              <a:t>🔗 id_alumno                                                     FK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95"/>
          <p:cNvSpPr/>
          <p:nvPr/>
        </p:nvSpPr>
        <p:spPr>
          <a:xfrm>
            <a:off x="6199920" y="3104280"/>
            <a:ext cx="2467800" cy="12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2D6A9F"/>
                </a:solidFill>
                <a:effectLst/>
                <a:uFillTx/>
                <a:latin typeface="Calibri"/>
                <a:ea typeface="Calibri"/>
              </a:rPr>
              <a:t>🔗 id_proyecto                                                   FK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96"/>
          <p:cNvSpPr/>
          <p:nvPr/>
        </p:nvSpPr>
        <p:spPr>
          <a:xfrm>
            <a:off x="6199920" y="3234240"/>
            <a:ext cx="2467800" cy="12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4A5568"/>
                </a:solidFill>
                <a:effectLst/>
                <a:uFillTx/>
                <a:latin typeface="Calibri"/>
                <a:ea typeface="Calibri"/>
              </a:rPr>
              <a:t>       resultado                                                       VARCHAR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57"/>
          <p:cNvSpPr/>
          <p:nvPr/>
        </p:nvSpPr>
        <p:spPr>
          <a:xfrm>
            <a:off x="6108480" y="3900960"/>
            <a:ext cx="2650680" cy="74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8"/>
            </a:solidFill>
            <a:round/>
          </a:ln>
          <a:effectLst>
            <a:outerShdw algn="bl" blurRad="50760" dir="8100000" dist="12218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58"/>
          <p:cNvSpPr/>
          <p:nvPr/>
        </p:nvSpPr>
        <p:spPr>
          <a:xfrm>
            <a:off x="6108480" y="3900960"/>
            <a:ext cx="2650680" cy="245880"/>
          </a:xfrm>
          <a:prstGeom prst="rect">
            <a:avLst/>
          </a:prstGeom>
          <a:solidFill>
            <a:srgbClr val="2D6A9F"/>
          </a:solidFill>
          <a:ln w="12700">
            <a:solidFill>
              <a:srgbClr val="2D6A9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97"/>
          <p:cNvSpPr/>
          <p:nvPr/>
        </p:nvSpPr>
        <p:spPr>
          <a:xfrm>
            <a:off x="6199920" y="3900960"/>
            <a:ext cx="2467800" cy="24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ASIGNACIONES ★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98"/>
          <p:cNvSpPr/>
          <p:nvPr/>
        </p:nvSpPr>
        <p:spPr>
          <a:xfrm>
            <a:off x="6199920" y="4165920"/>
            <a:ext cx="2467800" cy="14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1C2B4A"/>
                </a:solidFill>
                <a:effectLst/>
                <a:uFillTx/>
                <a:latin typeface="Calibri"/>
                <a:ea typeface="Calibri"/>
              </a:rPr>
              <a:t>🔑 id_asignacion                                           PK  SERIAL</a:t>
            </a:r>
            <a:endParaRPr lang="es-E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99"/>
          <p:cNvSpPr/>
          <p:nvPr/>
        </p:nvSpPr>
        <p:spPr>
          <a:xfrm>
            <a:off x="6199920" y="4332240"/>
            <a:ext cx="2467800" cy="12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2D6A9F"/>
                </a:solidFill>
                <a:effectLst/>
                <a:uFillTx/>
                <a:latin typeface="Calibri"/>
                <a:ea typeface="Calibri"/>
              </a:rPr>
              <a:t>🔗 id_profesor                                                   FK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100"/>
          <p:cNvSpPr/>
          <p:nvPr/>
        </p:nvSpPr>
        <p:spPr>
          <a:xfrm>
            <a:off x="6199920" y="4462200"/>
            <a:ext cx="2467800" cy="12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2D6A9F"/>
                </a:solidFill>
                <a:effectLst/>
                <a:uFillTx/>
                <a:latin typeface="Calibri"/>
                <a:ea typeface="Calibri"/>
              </a:rPr>
              <a:t>🔗 id_promocion                                               FK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101"/>
          <p:cNvSpPr/>
          <p:nvPr/>
        </p:nvSpPr>
        <p:spPr>
          <a:xfrm>
            <a:off x="2880000" y="4858200"/>
            <a:ext cx="339552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i="1" u="none" strike="noStrike">
                <a:solidFill>
                  <a:srgbClr val="8DA9C4"/>
                </a:solidFill>
                <a:effectLst/>
                <a:uFillTx/>
                <a:latin typeface="Calibri"/>
                <a:ea typeface="Calibri"/>
              </a:rPr>
              <a:t>🔑 PK = Clave Primaria    🔗 FK = Clave Foránea    ★ Tabla puente (N:M )</a:t>
            </a:r>
            <a:endParaRPr lang="es-E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13"/>
          <p:cNvSpPr/>
          <p:nvPr/>
        </p:nvSpPr>
        <p:spPr>
          <a:xfrm>
            <a:off x="3169440" y="105120"/>
            <a:ext cx="24109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pc="201" strike="noStrike">
                <a:solidFill>
                  <a:srgbClr val="2A6099"/>
                </a:solidFill>
                <a:effectLst/>
                <a:uFillTx/>
                <a:latin typeface="Calibri"/>
                <a:ea typeface="Calibri"/>
              </a:rPr>
              <a:t>PROYECTO BBDD RELACIONALES</a:t>
            </a:r>
            <a:endParaRPr lang="es-ES" sz="900" b="0" u="none" strike="noStrike">
              <a:solidFill>
                <a:srgbClr val="2A6099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16"/>
          <p:cNvSpPr/>
          <p:nvPr/>
        </p:nvSpPr>
        <p:spPr>
          <a:xfrm>
            <a:off x="1909440" y="535680"/>
            <a:ext cx="5290920" cy="44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Modelo Lógico</a:t>
            </a:r>
            <a:endParaRPr lang="es-E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D6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 16"/>
          <p:cNvSpPr/>
          <p:nvPr/>
        </p:nvSpPr>
        <p:spPr>
          <a:xfrm>
            <a:off x="-914400" y="-914400"/>
            <a:ext cx="3657240" cy="3657240"/>
          </a:xfrm>
          <a:prstGeom prst="ellipse">
            <a:avLst/>
          </a:prstGeom>
          <a:solidFill>
            <a:srgbClr val="B8D8F5">
              <a:alpha val="40000"/>
            </a:srgbClr>
          </a:solidFill>
          <a:ln w="12700">
            <a:solidFill>
              <a:srgbClr val="B8D8F5">
                <a:alpha val="4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17"/>
          <p:cNvSpPr/>
          <p:nvPr/>
        </p:nvSpPr>
        <p:spPr>
          <a:xfrm>
            <a:off x="6858000" y="3200400"/>
            <a:ext cx="3200040" cy="3200040"/>
          </a:xfrm>
          <a:prstGeom prst="ellipse">
            <a:avLst/>
          </a:prstGeom>
          <a:solidFill>
            <a:srgbClr val="7BBCE8">
              <a:alpha val="30000"/>
            </a:srgbClr>
          </a:solidFill>
          <a:ln w="12700">
            <a:solidFill>
              <a:srgbClr val="7BBCE8">
                <a:alpha val="3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18"/>
          <p:cNvSpPr/>
          <p:nvPr/>
        </p:nvSpPr>
        <p:spPr>
          <a:xfrm>
            <a:off x="7772400" y="-457200"/>
            <a:ext cx="2285640" cy="2285640"/>
          </a:xfrm>
          <a:prstGeom prst="ellipse">
            <a:avLst/>
          </a:prstGeom>
          <a:solidFill>
            <a:srgbClr val="4A90D9">
              <a:alpha val="25000"/>
            </a:srgbClr>
          </a:solidFill>
          <a:ln w="12700">
            <a:solidFill>
              <a:srgbClr val="4A90D9">
                <a:alpha val="2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Shape 30"/>
          <p:cNvSpPr/>
          <p:nvPr/>
        </p:nvSpPr>
        <p:spPr>
          <a:xfrm>
            <a:off x="3218760" y="3200400"/>
            <a:ext cx="1206720" cy="255600"/>
          </a:xfrm>
          <a:prstGeom prst="roundRect">
            <a:avLst>
              <a:gd name="adj" fmla="val 50000"/>
            </a:avLst>
          </a:prstGeom>
          <a:solidFill>
            <a:srgbClr val="D6E9FA"/>
          </a:solidFill>
          <a:ln w="12700">
            <a:solidFill>
              <a:srgbClr val="D6E9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Shape 31"/>
          <p:cNvSpPr/>
          <p:nvPr/>
        </p:nvSpPr>
        <p:spPr>
          <a:xfrm>
            <a:off x="4608720" y="3200400"/>
            <a:ext cx="1206720" cy="255600"/>
          </a:xfrm>
          <a:prstGeom prst="roundRect">
            <a:avLst>
              <a:gd name="adj" fmla="val 50000"/>
            </a:avLst>
          </a:prstGeom>
          <a:solidFill>
            <a:srgbClr val="D6E9FA"/>
          </a:solidFill>
          <a:ln w="12700">
            <a:solidFill>
              <a:srgbClr val="D6E9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34"/>
          <p:cNvSpPr/>
          <p:nvPr/>
        </p:nvSpPr>
        <p:spPr>
          <a:xfrm>
            <a:off x="5998320" y="3200400"/>
            <a:ext cx="1206720" cy="255600"/>
          </a:xfrm>
          <a:prstGeom prst="roundRect">
            <a:avLst>
              <a:gd name="adj" fmla="val 50000"/>
            </a:avLst>
          </a:prstGeom>
          <a:solidFill>
            <a:srgbClr val="D6E9FA"/>
          </a:solidFill>
          <a:ln w="12700">
            <a:solidFill>
              <a:srgbClr val="D6E9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7" name="Imagen 1"/>
          <p:cNvPicPr/>
          <p:nvPr/>
        </p:nvPicPr>
        <p:blipFill>
          <a:blip r:embed="rId1"/>
          <a:stretch/>
        </p:blipFill>
        <p:spPr>
          <a:xfrm>
            <a:off x="3071880" y="484200"/>
            <a:ext cx="5752080" cy="4275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8" name=""/>
          <p:cNvSpPr txBox="1"/>
          <p:nvPr/>
        </p:nvSpPr>
        <p:spPr>
          <a:xfrm>
            <a:off x="317160" y="1795320"/>
            <a:ext cx="2562840" cy="904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 anchorCtr="1">
            <a:spAutoFit/>
          </a:bodyPr>
          <a:p>
            <a:pPr algn="ctr"/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Diagrama de Base de Datos</a:t>
            </a:r>
            <a:endParaRPr lang="es-E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360000" y="2880000"/>
            <a:ext cx="2446920" cy="5482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 anchorCtr="1">
            <a:spAutoFit/>
          </a:bodyPr>
          <a:p>
            <a:pPr algn="ctr"/>
            <a:r>
              <a:rPr lang="en-US" sz="1200" b="0" u="none" strike="noStrike">
                <a:solidFill>
                  <a:srgbClr val="4EADD4"/>
                </a:solidFill>
                <a:effectLst/>
                <a:uFillTx/>
                <a:latin typeface="Calibri"/>
                <a:ea typeface="Calibri"/>
              </a:rPr>
              <a:t>Implementación en PostgreSQL — modelo lógico completo con relaciones y tipos de dato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4"/>
          <p:cNvSpPr/>
          <p:nvPr/>
        </p:nvSpPr>
        <p:spPr>
          <a:xfrm>
            <a:off x="3169800" y="105120"/>
            <a:ext cx="24109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pc="201" strike="noStrike">
                <a:solidFill>
                  <a:srgbClr val="2A6099"/>
                </a:solidFill>
                <a:effectLst/>
                <a:uFillTx/>
                <a:latin typeface="Calibri"/>
                <a:ea typeface="Calibri"/>
              </a:rPr>
              <a:t>PROYECTO BBDD RELACIONALES</a:t>
            </a:r>
            <a:endParaRPr lang="es-ES" sz="900" b="0" u="none" strike="noStrike">
              <a:solidFill>
                <a:srgbClr val="2A6099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D6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Shape 1"/>
          <p:cNvSpPr/>
          <p:nvPr/>
        </p:nvSpPr>
        <p:spPr>
          <a:xfrm>
            <a:off x="-914400" y="-914400"/>
            <a:ext cx="3657240" cy="3657240"/>
          </a:xfrm>
          <a:prstGeom prst="ellipse">
            <a:avLst/>
          </a:prstGeom>
          <a:solidFill>
            <a:srgbClr val="B8D8F5">
              <a:alpha val="40000"/>
            </a:srgbClr>
          </a:solidFill>
          <a:ln w="12700">
            <a:solidFill>
              <a:srgbClr val="B8D8F5">
                <a:alpha val="4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Shape 2"/>
          <p:cNvSpPr/>
          <p:nvPr/>
        </p:nvSpPr>
        <p:spPr>
          <a:xfrm>
            <a:off x="6858000" y="3200400"/>
            <a:ext cx="3200040" cy="3200040"/>
          </a:xfrm>
          <a:prstGeom prst="ellipse">
            <a:avLst/>
          </a:prstGeom>
          <a:solidFill>
            <a:srgbClr val="7BBCE8">
              <a:alpha val="30000"/>
            </a:srgbClr>
          </a:solidFill>
          <a:ln w="12700">
            <a:solidFill>
              <a:srgbClr val="7BBCE8">
                <a:alpha val="3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Shape 3"/>
          <p:cNvSpPr/>
          <p:nvPr/>
        </p:nvSpPr>
        <p:spPr>
          <a:xfrm>
            <a:off x="7772400" y="-457200"/>
            <a:ext cx="2285640" cy="2285640"/>
          </a:xfrm>
          <a:prstGeom prst="ellipse">
            <a:avLst/>
          </a:prstGeom>
          <a:solidFill>
            <a:srgbClr val="4A90D9">
              <a:alpha val="25000"/>
            </a:srgbClr>
          </a:solidFill>
          <a:ln w="12700">
            <a:solidFill>
              <a:srgbClr val="4A90D9">
                <a:alpha val="2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Shape 7"/>
          <p:cNvSpPr/>
          <p:nvPr/>
        </p:nvSpPr>
        <p:spPr>
          <a:xfrm>
            <a:off x="1371600" y="720000"/>
            <a:ext cx="6400440" cy="3474360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B8D8F5"/>
            </a:solidFill>
            <a:round/>
          </a:ln>
          <a:effectLst>
            <a:outerShdw algn="bl" blurRad="127080" dir="8100000" dist="37674" kx="0" ky="0" rotWithShape="0" sx="100000" sy="100000">
              <a:srgbClr val="4A90D9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8"/>
          <p:cNvSpPr/>
          <p:nvPr/>
        </p:nvSpPr>
        <p:spPr>
          <a:xfrm rot="21597600">
            <a:off x="1371600" y="824760"/>
            <a:ext cx="6400440" cy="36540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5"/>
          <p:cNvSpPr/>
          <p:nvPr/>
        </p:nvSpPr>
        <p:spPr>
          <a:xfrm>
            <a:off x="1371600" y="1280160"/>
            <a:ext cx="64004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1E4A7A"/>
                </a:solidFill>
                <a:effectLst/>
                <a:uFillTx/>
                <a:latin typeface="Calibri"/>
                <a:ea typeface="Calibri"/>
              </a:rPr>
              <a:t>ESKERRIK ASKO!</a:t>
            </a:r>
            <a:endParaRPr lang="es-E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9"/>
          <p:cNvSpPr/>
          <p:nvPr/>
        </p:nvSpPr>
        <p:spPr>
          <a:xfrm>
            <a:off x="1371600" y="2331720"/>
            <a:ext cx="64004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4A90D9"/>
                </a:solidFill>
                <a:effectLst/>
                <a:uFillTx/>
                <a:latin typeface="Calibri"/>
                <a:ea typeface="Calibri"/>
              </a:rPr>
              <a:t>¿Preguntas?</a:t>
            </a:r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Shape 19"/>
          <p:cNvSpPr/>
          <p:nvPr/>
        </p:nvSpPr>
        <p:spPr>
          <a:xfrm>
            <a:off x="1828800" y="3200400"/>
            <a:ext cx="1206720" cy="255600"/>
          </a:xfrm>
          <a:prstGeom prst="roundRect">
            <a:avLst>
              <a:gd name="adj" fmla="val 50000"/>
            </a:avLst>
          </a:prstGeom>
          <a:solidFill>
            <a:srgbClr val="D6E9FA"/>
          </a:solidFill>
          <a:ln w="12700">
            <a:solidFill>
              <a:srgbClr val="D6E9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10"/>
          <p:cNvSpPr/>
          <p:nvPr/>
        </p:nvSpPr>
        <p:spPr>
          <a:xfrm>
            <a:off x="1828800" y="3209400"/>
            <a:ext cx="12067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E4A7A"/>
                </a:solidFill>
                <a:effectLst/>
                <a:uFillTx/>
                <a:latin typeface="Calibri"/>
              </a:rPr>
              <a:t>Ainara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Shape 22"/>
          <p:cNvSpPr/>
          <p:nvPr/>
        </p:nvSpPr>
        <p:spPr>
          <a:xfrm>
            <a:off x="3218760" y="3200400"/>
            <a:ext cx="1206720" cy="255600"/>
          </a:xfrm>
          <a:prstGeom prst="roundRect">
            <a:avLst>
              <a:gd name="adj" fmla="val 50000"/>
            </a:avLst>
          </a:prstGeom>
          <a:solidFill>
            <a:srgbClr val="D6E9FA"/>
          </a:solidFill>
          <a:ln w="12700">
            <a:solidFill>
              <a:srgbClr val="D6E9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14"/>
          <p:cNvSpPr/>
          <p:nvPr/>
        </p:nvSpPr>
        <p:spPr>
          <a:xfrm>
            <a:off x="3218760" y="3209400"/>
            <a:ext cx="12067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E4A7A"/>
                </a:solidFill>
                <a:effectLst/>
                <a:uFillTx/>
                <a:latin typeface="Calibri"/>
              </a:rPr>
              <a:t>Estibaliz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23"/>
          <p:cNvSpPr/>
          <p:nvPr/>
        </p:nvSpPr>
        <p:spPr>
          <a:xfrm>
            <a:off x="4608720" y="3200400"/>
            <a:ext cx="1206720" cy="255600"/>
          </a:xfrm>
          <a:prstGeom prst="roundRect">
            <a:avLst>
              <a:gd name="adj" fmla="val 50000"/>
            </a:avLst>
          </a:prstGeom>
          <a:solidFill>
            <a:srgbClr val="D6E9FA"/>
          </a:solidFill>
          <a:ln w="12700">
            <a:solidFill>
              <a:srgbClr val="D6E9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15"/>
          <p:cNvSpPr/>
          <p:nvPr/>
        </p:nvSpPr>
        <p:spPr>
          <a:xfrm>
            <a:off x="4608720" y="3209400"/>
            <a:ext cx="12067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E4A7A"/>
                </a:solidFill>
                <a:effectLst/>
                <a:uFillTx/>
                <a:latin typeface="Calibri"/>
              </a:rPr>
              <a:t>Iqra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Shape 24"/>
          <p:cNvSpPr/>
          <p:nvPr/>
        </p:nvSpPr>
        <p:spPr>
          <a:xfrm>
            <a:off x="5998320" y="3200400"/>
            <a:ext cx="1206720" cy="255600"/>
          </a:xfrm>
          <a:prstGeom prst="roundRect">
            <a:avLst>
              <a:gd name="adj" fmla="val 50000"/>
            </a:avLst>
          </a:prstGeom>
          <a:solidFill>
            <a:srgbClr val="D6E9FA"/>
          </a:solidFill>
          <a:ln w="12700">
            <a:solidFill>
              <a:srgbClr val="D6E9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20"/>
          <p:cNvSpPr/>
          <p:nvPr/>
        </p:nvSpPr>
        <p:spPr>
          <a:xfrm>
            <a:off x="5998320" y="3209400"/>
            <a:ext cx="12067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E4A7A"/>
                </a:solidFill>
                <a:effectLst/>
                <a:uFillTx/>
                <a:latin typeface="Calibri"/>
              </a:rPr>
              <a:t>Roberto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17"/>
          <p:cNvSpPr/>
          <p:nvPr/>
        </p:nvSpPr>
        <p:spPr>
          <a:xfrm>
            <a:off x="3169800" y="105120"/>
            <a:ext cx="24109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pc="201" strike="noStrike">
                <a:solidFill>
                  <a:srgbClr val="2A6099"/>
                </a:solidFill>
                <a:effectLst/>
                <a:uFillTx/>
                <a:latin typeface="Calibri"/>
                <a:ea typeface="Calibri"/>
              </a:rPr>
              <a:t>PROYECTO BBDD RELACIONALES</a:t>
            </a:r>
            <a:endParaRPr lang="es-ES" sz="900" b="0" u="none" strike="noStrike">
              <a:solidFill>
                <a:srgbClr val="2A6099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43</TotalTime>
  <Application>LibreOffice/26.2.3.2$Windows_X86_64 LibreOffice_project/70e089b17412e4cb7773e41413306b17a2328c34</Application>
  <AppVersion>15.0000</AppVersion>
  <Words>286</Words>
  <Paragraphs>59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2026-05-21T13:35:42Z</dcterms:created>
  <dc:creator>PptxGenJS</dc:creator>
  <dc:description/>
  <dc:language>es-ES</dc:language>
  <cp:lastModifiedBy/>
  <dcterms:modified xsi:type="dcterms:W3CDTF">2026-05-21T22:45:44Z</dcterms:modified>
  <cp:revision>8</cp:revision>
  <dc:subject>PptxGenJS Presentation</dc:subject>
  <dc:title>Proyecto BBDD - Bootcamp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3</vt:i4>
  </property>
  <property fmtid="{D5CDD505-2E9C-101B-9397-08002B2CF9AE}" pid="3" name="PresentationFormat">
    <vt:lpwstr>Presentación en pantalla (16:9)</vt:lpwstr>
  </property>
  <property fmtid="{D5CDD505-2E9C-101B-9397-08002B2CF9AE}" pid="4" name="Slides">
    <vt:i4>5</vt:i4>
  </property>
</Properties>
</file>